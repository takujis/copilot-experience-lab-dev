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84" y="12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本資料は前年の役員会資料です。次年度資料を作成する際は、書式や構成の参考として使用してください。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議題を説明します。次年度版では、CopilotがExcelの分析結果に合わせて各項目を置き換える想定です。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前年の結論例です。次年度資料ではExcelの役員会サマリーをもとに差し替えます。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数値はレイアウト例のダミーです。次年度版ではExcelから取得した確認済み数値に置き換えてください。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4象限のカテゴリ名と配置は前年例です。次年度版ではExcelのカテゴリ別集計とバブルチャートを参照します。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候補名は次年度のExcel分析から差し替える前提です。前年資料の比較レイアウトとして使用します。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次年度版では意思決定事項に合わせてアクションと検証条件を更新します。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前年役員会資料の締めスライドです。次年度資料では承認依頼に合わせて副題を変更します。
[Sources]
Visuals on this slide were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ARD">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455D9"/>
          </a:solidFill>
          <a:ln w="12700">
            <a:solidFill>
              <a:srgbClr val="1455D9"/>
            </a:solidFill>
            <a:prstDash val="solid"/>
          </a:ln>
        </p:spPr>
        <p:txBody>
          <a:bodyPr/>
          <a:lstStyle/>
          <a:p>
            <a:endParaRPr lang="ja-JP" altLang="en-US"/>
          </a:p>
        </p:txBody>
      </p:sp>
      <p:sp>
        <p:nvSpPr>
          <p:cNvPr id="3" name="Text 1"/>
          <p:cNvSpPr/>
          <p:nvPr/>
        </p:nvSpPr>
        <p:spPr>
          <a:xfrm>
            <a:off x="457200" y="6492240"/>
            <a:ext cx="3108960" cy="182880"/>
          </a:xfrm>
          <a:prstGeom prst="rect">
            <a:avLst/>
          </a:prstGeom>
          <a:noFill/>
          <a:ln/>
        </p:spPr>
        <p:txBody>
          <a:bodyPr wrap="square" rtlCol="0" anchor="ctr"/>
          <a:lstStyle/>
          <a:p>
            <a:pPr marL="0" indent="0">
              <a:buNone/>
            </a:pPr>
            <a:r>
              <a:rPr lang="en-US" sz="800" kern="0" spc="100" dirty="0">
                <a:solidFill>
                  <a:srgbClr val="636363"/>
                </a:solidFill>
                <a:latin typeface="Aptos" pitchFamily="34" charset="0"/>
                <a:ea typeface="Aptos" pitchFamily="34" charset="-122"/>
                <a:cs typeface="Aptos" pitchFamily="34" charset="-120"/>
              </a:rPr>
              <a:t>TRENDSTYLE / BOARD 2025</a:t>
            </a:r>
            <a:endParaRPr lang="en-US" sz="800" dirty="0"/>
          </a:p>
        </p:txBody>
      </p:sp>
      <p:sp>
        <p:nvSpPr>
          <p:cNvPr id="4" name="Text 2"/>
          <p:cNvSpPr/>
          <p:nvPr/>
        </p:nvSpPr>
        <p:spPr>
          <a:xfrm>
            <a:off x="10881360" y="6492240"/>
            <a:ext cx="822960" cy="182880"/>
          </a:xfrm>
          <a:prstGeom prst="rect">
            <a:avLst/>
          </a:prstGeom>
          <a:noFill/>
          <a:ln/>
        </p:spPr>
        <p:txBody>
          <a:bodyPr wrap="square" rtlCol="0" anchor="ctr"/>
          <a:lstStyle/>
          <a:p>
            <a:pPr marL="0" indent="0" algn="r">
              <a:buNone/>
            </a:pPr>
            <a:r>
              <a:rPr lang="en-US" sz="700" dirty="0">
                <a:solidFill>
                  <a:srgbClr val="8A8A8A"/>
                </a:solidFill>
                <a:latin typeface="Aptos" pitchFamily="34" charset="0"/>
                <a:ea typeface="Aptos" pitchFamily="34" charset="-122"/>
                <a:cs typeface="Aptos" pitchFamily="34" charset="-120"/>
              </a:rPr>
              <a:t>CONFIDENTIAL</a:t>
            </a:r>
            <a:endParaRPr lang="en-US" sz="7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5"/>
        </a:solidFill>
        <a:effectLst/>
      </p:bgPr>
    </p:bg>
    <p:spTree>
      <p:nvGrpSpPr>
        <p:cNvPr id="1" name=""/>
        <p:cNvGrpSpPr/>
        <p:nvPr/>
      </p:nvGrpSpPr>
      <p:grpSpPr>
        <a:xfrm>
          <a:off x="0" y="0"/>
          <a:ext cx="1" cy="1"/>
          <a:chOff x="0" y="0"/>
          <a:chExt cx="1" cy="1"/>
        </a:xfrm>
      </p:grpSpPr>
      <p:pic>
        <p:nvPicPr>
          <p:cNvPr id="2" name="Image 0" descr="/mnt/data/22d93e2a6a.png"/>
          <p:cNvPicPr>
            <a:picLocks noChangeAspect="1"/>
          </p:cNvPicPr>
          <p:nvPr/>
        </p:nvPicPr>
        <p:blipFill>
          <a:blip r:embed="rId3"/>
          <a:srcRect l="16076" r="16076"/>
          <a:stretch/>
        </p:blipFill>
        <p:spPr>
          <a:xfrm>
            <a:off x="5212080" y="0"/>
            <a:ext cx="6979615" cy="6858000"/>
          </a:xfrm>
          <a:prstGeom prst="rect">
            <a:avLst/>
          </a:prstGeom>
        </p:spPr>
      </p:pic>
      <p:sp>
        <p:nvSpPr>
          <p:cNvPr id="3" name="Shape 0"/>
          <p:cNvSpPr/>
          <p:nvPr/>
        </p:nvSpPr>
        <p:spPr>
          <a:xfrm>
            <a:off x="5212080" y="0"/>
            <a:ext cx="914400" cy="6858000"/>
          </a:xfrm>
          <a:prstGeom prst="rect">
            <a:avLst/>
          </a:prstGeom>
          <a:solidFill>
            <a:srgbClr val="151515">
              <a:alpha val="80000"/>
            </a:srgbClr>
          </a:solidFill>
          <a:ln w="12700">
            <a:solidFill>
              <a:srgbClr val="333333">
                <a:alpha val="0"/>
              </a:srgbClr>
            </a:solidFill>
            <a:prstDash val="solid"/>
          </a:ln>
        </p:spPr>
        <p:txBody>
          <a:bodyPr/>
          <a:lstStyle/>
          <a:p>
            <a:endParaRPr lang="ja-JP" altLang="en-US"/>
          </a:p>
        </p:txBody>
      </p:sp>
      <p:sp>
        <p:nvSpPr>
          <p:cNvPr id="4" name="Text 1"/>
          <p:cNvSpPr/>
          <p:nvPr/>
        </p:nvSpPr>
        <p:spPr>
          <a:xfrm>
            <a:off x="594360" y="658368"/>
            <a:ext cx="4297680" cy="274320"/>
          </a:xfrm>
          <a:prstGeom prst="rect">
            <a:avLst/>
          </a:prstGeom>
          <a:noFill/>
          <a:ln/>
        </p:spPr>
        <p:txBody>
          <a:bodyPr wrap="square" rtlCol="0" anchor="ctr"/>
          <a:lstStyle/>
          <a:p>
            <a:pPr marL="0" indent="0">
              <a:buNone/>
            </a:pPr>
            <a:r>
              <a:rPr lang="en-US" sz="1100" b="1" kern="0" spc="180" dirty="0">
                <a:solidFill>
                  <a:srgbClr val="76A2FF"/>
                </a:solidFill>
              </a:rPr>
              <a:t>2025 / ANNUAL BOARD REVIEW</a:t>
            </a:r>
            <a:endParaRPr lang="en-US" sz="1100" dirty="0"/>
          </a:p>
        </p:txBody>
      </p:sp>
      <p:sp>
        <p:nvSpPr>
          <p:cNvPr id="5" name="Text 2"/>
          <p:cNvSpPr/>
          <p:nvPr/>
        </p:nvSpPr>
        <p:spPr>
          <a:xfrm>
            <a:off x="594360" y="1234440"/>
            <a:ext cx="4572000" cy="1554480"/>
          </a:xfrm>
          <a:prstGeom prst="rect">
            <a:avLst/>
          </a:prstGeom>
          <a:noFill/>
          <a:ln/>
        </p:spPr>
        <p:txBody>
          <a:bodyPr wrap="square" lIns="0" tIns="0" rIns="0" bIns="0" rtlCol="0" anchor="ctr"/>
          <a:lstStyle/>
          <a:p>
            <a:pPr marL="0" indent="0">
              <a:buNone/>
            </a:pPr>
            <a:r>
              <a:rPr lang="en-US" sz="3800" b="1" dirty="0">
                <a:solidFill>
                  <a:srgbClr val="FFFFFF"/>
                </a:solidFill>
              </a:rPr>
              <a:t>成長戦略</a:t>
            </a:r>
            <a:endParaRPr lang="en-US" sz="3800" dirty="0"/>
          </a:p>
          <a:p>
            <a:pPr marL="0" indent="0">
              <a:buNone/>
            </a:pPr>
            <a:r>
              <a:rPr lang="en-US" sz="3800" b="1" dirty="0">
                <a:solidFill>
                  <a:srgbClr val="FFFFFF"/>
                </a:solidFill>
              </a:rPr>
              <a:t>役員会資料</a:t>
            </a:r>
            <a:endParaRPr lang="en-US" sz="3800" dirty="0"/>
          </a:p>
        </p:txBody>
      </p:sp>
      <p:sp>
        <p:nvSpPr>
          <p:cNvPr id="6" name="Text 3"/>
          <p:cNvSpPr/>
          <p:nvPr/>
        </p:nvSpPr>
        <p:spPr>
          <a:xfrm>
            <a:off x="594360" y="3017520"/>
            <a:ext cx="4114800" cy="365760"/>
          </a:xfrm>
          <a:prstGeom prst="rect">
            <a:avLst/>
          </a:prstGeom>
          <a:noFill/>
          <a:ln/>
        </p:spPr>
        <p:txBody>
          <a:bodyPr wrap="square" rtlCol="0" anchor="ctr"/>
          <a:lstStyle/>
          <a:p>
            <a:pPr marL="0" indent="0">
              <a:buNone/>
            </a:pPr>
            <a:r>
              <a:rPr lang="en-US" sz="1700" dirty="0">
                <a:solidFill>
                  <a:srgbClr val="D9D9D9"/>
                </a:solidFill>
              </a:rPr>
              <a:t>商品・地域・出店の投資方針</a:t>
            </a:r>
            <a:endParaRPr lang="en-US" sz="1700" dirty="0"/>
          </a:p>
        </p:txBody>
      </p:sp>
      <p:sp>
        <p:nvSpPr>
          <p:cNvPr id="7" name="Text 4"/>
          <p:cNvSpPr/>
          <p:nvPr/>
        </p:nvSpPr>
        <p:spPr>
          <a:xfrm>
            <a:off x="594360" y="5943600"/>
            <a:ext cx="4023360" cy="274320"/>
          </a:xfrm>
          <a:prstGeom prst="rect">
            <a:avLst/>
          </a:prstGeom>
          <a:noFill/>
          <a:ln/>
        </p:spPr>
        <p:txBody>
          <a:bodyPr wrap="square" rtlCol="0" anchor="ctr"/>
          <a:lstStyle/>
          <a:p>
            <a:pPr marL="0" indent="0">
              <a:buNone/>
            </a:pPr>
            <a:r>
              <a:rPr lang="en-US" sz="1100" dirty="0">
                <a:solidFill>
                  <a:srgbClr val="AFAFAF"/>
                </a:solidFill>
              </a:rPr>
              <a:t>TrendStyle Japan  |  2025年度</a:t>
            </a:r>
            <a:endParaRPr lang="en-US" sz="11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01 / AGENDA</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本日の論点は、成長投資と収益規律の両立。</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前年のスライド構成例として、論点を4つに絞っています。</a:t>
            </a:r>
            <a:endParaRPr lang="en-US" sz="1150" dirty="0"/>
          </a:p>
        </p:txBody>
      </p:sp>
      <p:sp>
        <p:nvSpPr>
          <p:cNvPr id="5" name="Text 3"/>
          <p:cNvSpPr/>
          <p:nvPr/>
        </p:nvSpPr>
        <p:spPr>
          <a:xfrm>
            <a:off x="594360" y="1874520"/>
            <a:ext cx="548640" cy="411480"/>
          </a:xfrm>
          <a:prstGeom prst="rect">
            <a:avLst/>
          </a:prstGeom>
          <a:noFill/>
          <a:ln/>
        </p:spPr>
        <p:txBody>
          <a:bodyPr wrap="square" rtlCol="0" anchor="ctr"/>
          <a:lstStyle/>
          <a:p>
            <a:pPr marL="0" indent="0">
              <a:buNone/>
            </a:pPr>
            <a:r>
              <a:rPr lang="en-US" sz="2200" b="1" dirty="0">
                <a:solidFill>
                  <a:srgbClr val="1455D9"/>
                </a:solidFill>
              </a:rPr>
              <a:t>01</a:t>
            </a:r>
            <a:endParaRPr lang="en-US" sz="2200" dirty="0"/>
          </a:p>
        </p:txBody>
      </p:sp>
      <p:sp>
        <p:nvSpPr>
          <p:cNvPr id="6" name="Text 4"/>
          <p:cNvSpPr/>
          <p:nvPr/>
        </p:nvSpPr>
        <p:spPr>
          <a:xfrm>
            <a:off x="1371600" y="1874520"/>
            <a:ext cx="3017520" cy="365760"/>
          </a:xfrm>
          <a:prstGeom prst="rect">
            <a:avLst/>
          </a:prstGeom>
          <a:noFill/>
          <a:ln/>
        </p:spPr>
        <p:txBody>
          <a:bodyPr wrap="square" rtlCol="0" anchor="ctr"/>
          <a:lstStyle/>
          <a:p>
            <a:pPr marL="0" indent="0">
              <a:buNone/>
            </a:pPr>
            <a:r>
              <a:rPr lang="en-US" sz="1800" b="1" dirty="0">
                <a:solidFill>
                  <a:srgbClr val="151515"/>
                </a:solidFill>
              </a:rPr>
              <a:t>業績レビュー</a:t>
            </a:r>
            <a:endParaRPr lang="en-US" sz="1800" dirty="0"/>
          </a:p>
        </p:txBody>
      </p:sp>
      <p:sp>
        <p:nvSpPr>
          <p:cNvPr id="7" name="Text 5"/>
          <p:cNvSpPr/>
          <p:nvPr/>
        </p:nvSpPr>
        <p:spPr>
          <a:xfrm>
            <a:off x="4937760" y="1874520"/>
            <a:ext cx="5120640" cy="320040"/>
          </a:xfrm>
          <a:prstGeom prst="rect">
            <a:avLst/>
          </a:prstGeom>
          <a:noFill/>
          <a:ln/>
        </p:spPr>
        <p:txBody>
          <a:bodyPr wrap="square" rtlCol="0" anchor="ctr"/>
          <a:lstStyle/>
          <a:p>
            <a:pPr marL="0" indent="0">
              <a:buNone/>
            </a:pPr>
            <a:r>
              <a:rPr lang="en-US" sz="1300" dirty="0">
                <a:solidFill>
                  <a:srgbClr val="656565"/>
                </a:solidFill>
              </a:rPr>
              <a:t>売上と粗利の変化</a:t>
            </a:r>
            <a:endParaRPr lang="en-US" sz="1300" dirty="0"/>
          </a:p>
        </p:txBody>
      </p:sp>
      <p:sp>
        <p:nvSpPr>
          <p:cNvPr id="8" name="Shape 6"/>
          <p:cNvSpPr/>
          <p:nvPr/>
        </p:nvSpPr>
        <p:spPr>
          <a:xfrm>
            <a:off x="594360" y="2468880"/>
            <a:ext cx="10789920" cy="1"/>
          </a:xfrm>
          <a:prstGeom prst="line">
            <a:avLst/>
          </a:prstGeom>
          <a:noFill/>
          <a:ln w="12700">
            <a:solidFill>
              <a:srgbClr val="CFCBC3"/>
            </a:solidFill>
            <a:prstDash val="solid"/>
          </a:ln>
        </p:spPr>
        <p:txBody>
          <a:bodyPr/>
          <a:lstStyle/>
          <a:p>
            <a:endParaRPr lang="ja-JP" altLang="en-US"/>
          </a:p>
        </p:txBody>
      </p:sp>
      <p:sp>
        <p:nvSpPr>
          <p:cNvPr id="9" name="Text 7"/>
          <p:cNvSpPr/>
          <p:nvPr/>
        </p:nvSpPr>
        <p:spPr>
          <a:xfrm>
            <a:off x="594360" y="2834640"/>
            <a:ext cx="548640" cy="411480"/>
          </a:xfrm>
          <a:prstGeom prst="rect">
            <a:avLst/>
          </a:prstGeom>
          <a:noFill/>
          <a:ln/>
        </p:spPr>
        <p:txBody>
          <a:bodyPr wrap="square" rtlCol="0" anchor="ctr"/>
          <a:lstStyle/>
          <a:p>
            <a:pPr marL="0" indent="0">
              <a:buNone/>
            </a:pPr>
            <a:r>
              <a:rPr lang="en-US" sz="2200" b="1" dirty="0">
                <a:solidFill>
                  <a:srgbClr val="1455D9"/>
                </a:solidFill>
              </a:rPr>
              <a:t>02</a:t>
            </a:r>
            <a:endParaRPr lang="en-US" sz="2200" dirty="0"/>
          </a:p>
        </p:txBody>
      </p:sp>
      <p:sp>
        <p:nvSpPr>
          <p:cNvPr id="10" name="Text 8"/>
          <p:cNvSpPr/>
          <p:nvPr/>
        </p:nvSpPr>
        <p:spPr>
          <a:xfrm>
            <a:off x="1371600" y="2834640"/>
            <a:ext cx="3017520" cy="365760"/>
          </a:xfrm>
          <a:prstGeom prst="rect">
            <a:avLst/>
          </a:prstGeom>
          <a:noFill/>
          <a:ln/>
        </p:spPr>
        <p:txBody>
          <a:bodyPr wrap="square" rtlCol="0" anchor="ctr"/>
          <a:lstStyle/>
          <a:p>
            <a:pPr marL="0" indent="0">
              <a:buNone/>
            </a:pPr>
            <a:r>
              <a:rPr lang="en-US" sz="1800" b="1" dirty="0">
                <a:solidFill>
                  <a:srgbClr val="151515"/>
                </a:solidFill>
              </a:rPr>
              <a:t>商品ポートフォリオ</a:t>
            </a:r>
            <a:endParaRPr lang="en-US" sz="1800" dirty="0"/>
          </a:p>
        </p:txBody>
      </p:sp>
      <p:sp>
        <p:nvSpPr>
          <p:cNvPr id="11" name="Text 9"/>
          <p:cNvSpPr/>
          <p:nvPr/>
        </p:nvSpPr>
        <p:spPr>
          <a:xfrm>
            <a:off x="4937760" y="2834640"/>
            <a:ext cx="5120640" cy="320040"/>
          </a:xfrm>
          <a:prstGeom prst="rect">
            <a:avLst/>
          </a:prstGeom>
          <a:noFill/>
          <a:ln/>
        </p:spPr>
        <p:txBody>
          <a:bodyPr wrap="square" rtlCol="0" anchor="ctr"/>
          <a:lstStyle/>
          <a:p>
            <a:pPr marL="0" indent="0">
              <a:buNone/>
            </a:pPr>
            <a:r>
              <a:rPr lang="en-US" sz="1300" dirty="0">
                <a:solidFill>
                  <a:srgbClr val="656565"/>
                </a:solidFill>
              </a:rPr>
              <a:t>投資・改善・維持の判断</a:t>
            </a:r>
            <a:endParaRPr lang="en-US" sz="1300" dirty="0"/>
          </a:p>
        </p:txBody>
      </p:sp>
      <p:sp>
        <p:nvSpPr>
          <p:cNvPr id="12" name="Shape 10"/>
          <p:cNvSpPr/>
          <p:nvPr/>
        </p:nvSpPr>
        <p:spPr>
          <a:xfrm>
            <a:off x="594360" y="3429000"/>
            <a:ext cx="10789920" cy="1"/>
          </a:xfrm>
          <a:prstGeom prst="line">
            <a:avLst/>
          </a:prstGeom>
          <a:noFill/>
          <a:ln w="12700">
            <a:solidFill>
              <a:srgbClr val="CFCBC3"/>
            </a:solidFill>
            <a:prstDash val="solid"/>
          </a:ln>
        </p:spPr>
        <p:txBody>
          <a:bodyPr/>
          <a:lstStyle/>
          <a:p>
            <a:endParaRPr lang="ja-JP" altLang="en-US"/>
          </a:p>
        </p:txBody>
      </p:sp>
      <p:sp>
        <p:nvSpPr>
          <p:cNvPr id="13" name="Text 11"/>
          <p:cNvSpPr/>
          <p:nvPr/>
        </p:nvSpPr>
        <p:spPr>
          <a:xfrm>
            <a:off x="594360" y="3794760"/>
            <a:ext cx="548640" cy="411480"/>
          </a:xfrm>
          <a:prstGeom prst="rect">
            <a:avLst/>
          </a:prstGeom>
          <a:noFill/>
          <a:ln/>
        </p:spPr>
        <p:txBody>
          <a:bodyPr wrap="square" rtlCol="0" anchor="ctr"/>
          <a:lstStyle/>
          <a:p>
            <a:pPr marL="0" indent="0">
              <a:buNone/>
            </a:pPr>
            <a:r>
              <a:rPr lang="en-US" sz="2200" b="1" dirty="0">
                <a:solidFill>
                  <a:srgbClr val="1455D9"/>
                </a:solidFill>
              </a:rPr>
              <a:t>03</a:t>
            </a:r>
            <a:endParaRPr lang="en-US" sz="2200" dirty="0"/>
          </a:p>
        </p:txBody>
      </p:sp>
      <p:sp>
        <p:nvSpPr>
          <p:cNvPr id="14" name="Text 12"/>
          <p:cNvSpPr/>
          <p:nvPr/>
        </p:nvSpPr>
        <p:spPr>
          <a:xfrm>
            <a:off x="1371600" y="3794760"/>
            <a:ext cx="3017520" cy="365760"/>
          </a:xfrm>
          <a:prstGeom prst="rect">
            <a:avLst/>
          </a:prstGeom>
          <a:noFill/>
          <a:ln/>
        </p:spPr>
        <p:txBody>
          <a:bodyPr wrap="square" rtlCol="0" anchor="ctr"/>
          <a:lstStyle/>
          <a:p>
            <a:pPr marL="0" indent="0">
              <a:buNone/>
            </a:pPr>
            <a:r>
              <a:rPr lang="en-US" sz="1800" b="1" dirty="0">
                <a:solidFill>
                  <a:srgbClr val="151515"/>
                </a:solidFill>
              </a:rPr>
              <a:t>地域戦略</a:t>
            </a:r>
            <a:endParaRPr lang="en-US" sz="1800" dirty="0"/>
          </a:p>
        </p:txBody>
      </p:sp>
      <p:sp>
        <p:nvSpPr>
          <p:cNvPr id="15" name="Text 13"/>
          <p:cNvSpPr/>
          <p:nvPr/>
        </p:nvSpPr>
        <p:spPr>
          <a:xfrm>
            <a:off x="4937760" y="3794760"/>
            <a:ext cx="5120640" cy="320040"/>
          </a:xfrm>
          <a:prstGeom prst="rect">
            <a:avLst/>
          </a:prstGeom>
          <a:noFill/>
          <a:ln/>
        </p:spPr>
        <p:txBody>
          <a:bodyPr wrap="square" rtlCol="0" anchor="ctr"/>
          <a:lstStyle/>
          <a:p>
            <a:pPr marL="0" indent="0">
              <a:buNone/>
            </a:pPr>
            <a:r>
              <a:rPr lang="en-US" sz="1300" dirty="0">
                <a:solidFill>
                  <a:srgbClr val="656565"/>
                </a:solidFill>
              </a:rPr>
              <a:t>既存店と新規出店</a:t>
            </a:r>
            <a:endParaRPr lang="en-US" sz="1300" dirty="0"/>
          </a:p>
        </p:txBody>
      </p:sp>
      <p:sp>
        <p:nvSpPr>
          <p:cNvPr id="16" name="Shape 14"/>
          <p:cNvSpPr/>
          <p:nvPr/>
        </p:nvSpPr>
        <p:spPr>
          <a:xfrm>
            <a:off x="594360" y="4389120"/>
            <a:ext cx="10789920" cy="1"/>
          </a:xfrm>
          <a:prstGeom prst="line">
            <a:avLst/>
          </a:prstGeom>
          <a:noFill/>
          <a:ln w="12700">
            <a:solidFill>
              <a:srgbClr val="CFCBC3"/>
            </a:solidFill>
            <a:prstDash val="solid"/>
          </a:ln>
        </p:spPr>
        <p:txBody>
          <a:bodyPr/>
          <a:lstStyle/>
          <a:p>
            <a:endParaRPr lang="ja-JP" altLang="en-US"/>
          </a:p>
        </p:txBody>
      </p:sp>
      <p:sp>
        <p:nvSpPr>
          <p:cNvPr id="17" name="Text 15"/>
          <p:cNvSpPr/>
          <p:nvPr/>
        </p:nvSpPr>
        <p:spPr>
          <a:xfrm>
            <a:off x="594360" y="4754880"/>
            <a:ext cx="548640" cy="411480"/>
          </a:xfrm>
          <a:prstGeom prst="rect">
            <a:avLst/>
          </a:prstGeom>
          <a:noFill/>
          <a:ln/>
        </p:spPr>
        <p:txBody>
          <a:bodyPr wrap="square" rtlCol="0" anchor="ctr"/>
          <a:lstStyle/>
          <a:p>
            <a:pPr marL="0" indent="0">
              <a:buNone/>
            </a:pPr>
            <a:r>
              <a:rPr lang="en-US" sz="2200" b="1" dirty="0">
                <a:solidFill>
                  <a:srgbClr val="1455D9"/>
                </a:solidFill>
              </a:rPr>
              <a:t>04</a:t>
            </a:r>
            <a:endParaRPr lang="en-US" sz="2200" dirty="0"/>
          </a:p>
        </p:txBody>
      </p:sp>
      <p:sp>
        <p:nvSpPr>
          <p:cNvPr id="18" name="Text 16"/>
          <p:cNvSpPr/>
          <p:nvPr/>
        </p:nvSpPr>
        <p:spPr>
          <a:xfrm>
            <a:off x="1371600" y="4754880"/>
            <a:ext cx="3017520" cy="365760"/>
          </a:xfrm>
          <a:prstGeom prst="rect">
            <a:avLst/>
          </a:prstGeom>
          <a:noFill/>
          <a:ln/>
        </p:spPr>
        <p:txBody>
          <a:bodyPr wrap="square" rtlCol="0" anchor="ctr"/>
          <a:lstStyle/>
          <a:p>
            <a:pPr marL="0" indent="0">
              <a:buNone/>
            </a:pPr>
            <a:r>
              <a:rPr lang="en-US" sz="1800" b="1" dirty="0">
                <a:solidFill>
                  <a:srgbClr val="151515"/>
                </a:solidFill>
              </a:rPr>
              <a:t>決議事項</a:t>
            </a:r>
            <a:endParaRPr lang="en-US" sz="1800" dirty="0"/>
          </a:p>
        </p:txBody>
      </p:sp>
      <p:sp>
        <p:nvSpPr>
          <p:cNvPr id="19" name="Text 17"/>
          <p:cNvSpPr/>
          <p:nvPr/>
        </p:nvSpPr>
        <p:spPr>
          <a:xfrm>
            <a:off x="4937760" y="4754880"/>
            <a:ext cx="5120640" cy="320040"/>
          </a:xfrm>
          <a:prstGeom prst="rect">
            <a:avLst/>
          </a:prstGeom>
          <a:noFill/>
          <a:ln/>
        </p:spPr>
        <p:txBody>
          <a:bodyPr wrap="square" rtlCol="0" anchor="ctr"/>
          <a:lstStyle/>
          <a:p>
            <a:pPr marL="0" indent="0">
              <a:buNone/>
            </a:pPr>
            <a:r>
              <a:rPr lang="en-US" sz="1300" dirty="0">
                <a:solidFill>
                  <a:srgbClr val="656565"/>
                </a:solidFill>
              </a:rPr>
              <a:t>次の90日</a:t>
            </a:r>
            <a:endParaRPr lang="en-US" sz="1300" dirty="0"/>
          </a:p>
        </p:txBody>
      </p:sp>
      <p:sp>
        <p:nvSpPr>
          <p:cNvPr id="20" name="Shape 18"/>
          <p:cNvSpPr/>
          <p:nvPr/>
        </p:nvSpPr>
        <p:spPr>
          <a:xfrm>
            <a:off x="594360" y="5349240"/>
            <a:ext cx="10789920" cy="1"/>
          </a:xfrm>
          <a:prstGeom prst="line">
            <a:avLst/>
          </a:prstGeom>
          <a:noFill/>
          <a:ln w="12700">
            <a:solidFill>
              <a:srgbClr val="CFCBC3"/>
            </a:solidFill>
            <a:prstDash val="solid"/>
          </a:ln>
        </p:spPr>
        <p:txBody>
          <a:bodyPr/>
          <a:lstStyle/>
          <a:p>
            <a:endParaRPr lang="ja-JP" altLang="en-US"/>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02 / EXECUTIVE SUMMARY</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成長は継続。ただし、利益率を守る投資選別が必要。</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結論、根拠、役員への依頼を1枚にまとめるレイアウトです。</a:t>
            </a:r>
            <a:endParaRPr lang="en-US" sz="1150" dirty="0"/>
          </a:p>
        </p:txBody>
      </p:sp>
      <p:sp>
        <p:nvSpPr>
          <p:cNvPr id="5" name="Shape 3"/>
          <p:cNvSpPr/>
          <p:nvPr/>
        </p:nvSpPr>
        <p:spPr>
          <a:xfrm>
            <a:off x="594360" y="1874520"/>
            <a:ext cx="3337560" cy="2057400"/>
          </a:xfrm>
          <a:prstGeom prst="roundRect">
            <a:avLst>
              <a:gd name="adj" fmla="val 3111"/>
            </a:avLst>
          </a:prstGeom>
          <a:solidFill>
            <a:srgbClr val="FFFFFF"/>
          </a:solidFill>
          <a:ln w="12700">
            <a:solidFill>
              <a:srgbClr val="CFCBC3"/>
            </a:solidFill>
            <a:prstDash val="solid"/>
          </a:ln>
          <a:effectLst>
            <a:outerShdw blurRad="15240" dist="5080" dir="2700000" algn="bl" rotWithShape="0">
              <a:srgbClr val="000000">
                <a:alpha val="12000"/>
              </a:srgbClr>
            </a:outerShdw>
          </a:effectLst>
        </p:spPr>
        <p:txBody>
          <a:bodyPr/>
          <a:lstStyle/>
          <a:p>
            <a:endParaRPr lang="ja-JP" altLang="en-US"/>
          </a:p>
        </p:txBody>
      </p:sp>
      <p:sp>
        <p:nvSpPr>
          <p:cNvPr id="6" name="Text 4"/>
          <p:cNvSpPr/>
          <p:nvPr/>
        </p:nvSpPr>
        <p:spPr>
          <a:xfrm>
            <a:off x="822960" y="2103120"/>
            <a:ext cx="2560320" cy="228600"/>
          </a:xfrm>
          <a:prstGeom prst="rect">
            <a:avLst/>
          </a:prstGeom>
          <a:noFill/>
          <a:ln/>
        </p:spPr>
        <p:txBody>
          <a:bodyPr wrap="square" rtlCol="0" anchor="ctr"/>
          <a:lstStyle/>
          <a:p>
            <a:pPr marL="0" indent="0">
              <a:buNone/>
            </a:pPr>
            <a:r>
              <a:rPr lang="en-US" sz="1000" b="1" kern="0" spc="120" dirty="0">
                <a:solidFill>
                  <a:srgbClr val="1455D9"/>
                </a:solidFill>
              </a:rPr>
              <a:t>業績</a:t>
            </a:r>
            <a:endParaRPr lang="en-US" sz="1000" dirty="0"/>
          </a:p>
        </p:txBody>
      </p:sp>
      <p:sp>
        <p:nvSpPr>
          <p:cNvPr id="7" name="Text 5"/>
          <p:cNvSpPr/>
          <p:nvPr/>
        </p:nvSpPr>
        <p:spPr>
          <a:xfrm>
            <a:off x="822960" y="2542032"/>
            <a:ext cx="2743200" cy="502920"/>
          </a:xfrm>
          <a:prstGeom prst="rect">
            <a:avLst/>
          </a:prstGeom>
          <a:noFill/>
          <a:ln/>
        </p:spPr>
        <p:txBody>
          <a:bodyPr wrap="square" lIns="0" tIns="0" rIns="0" bIns="0" rtlCol="0" anchor="ctr"/>
          <a:lstStyle/>
          <a:p>
            <a:pPr marL="0" indent="0">
              <a:buNone/>
            </a:pPr>
            <a:r>
              <a:rPr lang="en-US" sz="2100" b="1" dirty="0">
                <a:solidFill>
                  <a:srgbClr val="151515"/>
                </a:solidFill>
              </a:rPr>
              <a:t>売上成長を維持</a:t>
            </a:r>
            <a:endParaRPr lang="en-US" sz="2100" dirty="0"/>
          </a:p>
        </p:txBody>
      </p:sp>
      <p:sp>
        <p:nvSpPr>
          <p:cNvPr id="8" name="Text 6"/>
          <p:cNvSpPr/>
          <p:nvPr/>
        </p:nvSpPr>
        <p:spPr>
          <a:xfrm>
            <a:off x="822960" y="3182112"/>
            <a:ext cx="2788920" cy="475488"/>
          </a:xfrm>
          <a:prstGeom prst="rect">
            <a:avLst/>
          </a:prstGeom>
          <a:noFill/>
          <a:ln/>
        </p:spPr>
        <p:txBody>
          <a:bodyPr wrap="square" lIns="0" tIns="0" rIns="0" bIns="0" rtlCol="0" anchor="ctr"/>
          <a:lstStyle/>
          <a:p>
            <a:pPr marL="0" indent="0">
              <a:buNone/>
            </a:pPr>
            <a:r>
              <a:rPr lang="en-US" sz="1150" dirty="0">
                <a:solidFill>
                  <a:srgbClr val="656565"/>
                </a:solidFill>
              </a:rPr>
              <a:t>主力カテゴリが全社成長を牽引</a:t>
            </a:r>
            <a:endParaRPr lang="en-US" sz="1150" dirty="0"/>
          </a:p>
        </p:txBody>
      </p:sp>
      <p:sp>
        <p:nvSpPr>
          <p:cNvPr id="9" name="Shape 7"/>
          <p:cNvSpPr/>
          <p:nvPr/>
        </p:nvSpPr>
        <p:spPr>
          <a:xfrm>
            <a:off x="4297680" y="1874520"/>
            <a:ext cx="3337560" cy="2057400"/>
          </a:xfrm>
          <a:prstGeom prst="roundRect">
            <a:avLst>
              <a:gd name="adj" fmla="val 3111"/>
            </a:avLst>
          </a:prstGeom>
          <a:solidFill>
            <a:srgbClr val="FFFFFF"/>
          </a:solidFill>
          <a:ln w="12700">
            <a:solidFill>
              <a:srgbClr val="CFCBC3"/>
            </a:solidFill>
            <a:prstDash val="solid"/>
          </a:ln>
          <a:effectLst>
            <a:outerShdw blurRad="15240" dist="5080" dir="2700000" algn="bl" rotWithShape="0">
              <a:srgbClr val="000000">
                <a:alpha val="12000"/>
              </a:srgbClr>
            </a:outerShdw>
          </a:effectLst>
        </p:spPr>
        <p:txBody>
          <a:bodyPr/>
          <a:lstStyle/>
          <a:p>
            <a:endParaRPr lang="ja-JP" altLang="en-US"/>
          </a:p>
        </p:txBody>
      </p:sp>
      <p:sp>
        <p:nvSpPr>
          <p:cNvPr id="10" name="Text 8"/>
          <p:cNvSpPr/>
          <p:nvPr/>
        </p:nvSpPr>
        <p:spPr>
          <a:xfrm>
            <a:off x="4526280" y="2103120"/>
            <a:ext cx="2560320" cy="228600"/>
          </a:xfrm>
          <a:prstGeom prst="rect">
            <a:avLst/>
          </a:prstGeom>
          <a:noFill/>
          <a:ln/>
        </p:spPr>
        <p:txBody>
          <a:bodyPr wrap="square" rtlCol="0" anchor="ctr"/>
          <a:lstStyle/>
          <a:p>
            <a:pPr marL="0" indent="0">
              <a:buNone/>
            </a:pPr>
            <a:r>
              <a:rPr lang="en-US" sz="1000" b="1" kern="0" spc="120" dirty="0">
                <a:solidFill>
                  <a:srgbClr val="1455D9"/>
                </a:solidFill>
              </a:rPr>
              <a:t>課題</a:t>
            </a:r>
            <a:endParaRPr lang="en-US" sz="1000" dirty="0"/>
          </a:p>
        </p:txBody>
      </p:sp>
      <p:sp>
        <p:nvSpPr>
          <p:cNvPr id="11" name="Text 9"/>
          <p:cNvSpPr/>
          <p:nvPr/>
        </p:nvSpPr>
        <p:spPr>
          <a:xfrm>
            <a:off x="4526280" y="2542032"/>
            <a:ext cx="2743200" cy="502920"/>
          </a:xfrm>
          <a:prstGeom prst="rect">
            <a:avLst/>
          </a:prstGeom>
          <a:noFill/>
          <a:ln/>
        </p:spPr>
        <p:txBody>
          <a:bodyPr wrap="square" lIns="0" tIns="0" rIns="0" bIns="0" rtlCol="0" anchor="ctr"/>
          <a:lstStyle/>
          <a:p>
            <a:pPr marL="0" indent="0">
              <a:buNone/>
            </a:pPr>
            <a:r>
              <a:rPr lang="en-US" sz="2100" b="1" dirty="0">
                <a:solidFill>
                  <a:srgbClr val="151515"/>
                </a:solidFill>
              </a:rPr>
              <a:t>粗利率にばらつき</a:t>
            </a:r>
            <a:endParaRPr lang="en-US" sz="2100" dirty="0"/>
          </a:p>
        </p:txBody>
      </p:sp>
      <p:sp>
        <p:nvSpPr>
          <p:cNvPr id="12" name="Text 10"/>
          <p:cNvSpPr/>
          <p:nvPr/>
        </p:nvSpPr>
        <p:spPr>
          <a:xfrm>
            <a:off x="4526280" y="3182112"/>
            <a:ext cx="2788920" cy="475488"/>
          </a:xfrm>
          <a:prstGeom prst="rect">
            <a:avLst/>
          </a:prstGeom>
          <a:noFill/>
          <a:ln/>
        </p:spPr>
        <p:txBody>
          <a:bodyPr wrap="square" lIns="0" tIns="0" rIns="0" bIns="0" rtlCol="0" anchor="ctr"/>
          <a:lstStyle/>
          <a:p>
            <a:pPr marL="0" indent="0">
              <a:buNone/>
            </a:pPr>
            <a:r>
              <a:rPr lang="en-US" sz="1150" dirty="0">
                <a:solidFill>
                  <a:srgbClr val="656565"/>
                </a:solidFill>
              </a:rPr>
              <a:t>規模だけでは投資判断できない</a:t>
            </a:r>
            <a:endParaRPr lang="en-US" sz="1150" dirty="0"/>
          </a:p>
        </p:txBody>
      </p:sp>
      <p:sp>
        <p:nvSpPr>
          <p:cNvPr id="13" name="Shape 11"/>
          <p:cNvSpPr/>
          <p:nvPr/>
        </p:nvSpPr>
        <p:spPr>
          <a:xfrm>
            <a:off x="8001000" y="1874520"/>
            <a:ext cx="3337560" cy="2057400"/>
          </a:xfrm>
          <a:prstGeom prst="roundRect">
            <a:avLst>
              <a:gd name="adj" fmla="val 3111"/>
            </a:avLst>
          </a:prstGeom>
          <a:solidFill>
            <a:srgbClr val="E7EEFF"/>
          </a:solidFill>
          <a:ln w="12700">
            <a:solidFill>
              <a:srgbClr val="1455D9"/>
            </a:solidFill>
            <a:prstDash val="solid"/>
          </a:ln>
          <a:effectLst>
            <a:outerShdw blurRad="15240" dist="5080" dir="2700000" algn="bl" rotWithShape="0">
              <a:srgbClr val="000000">
                <a:alpha val="12000"/>
              </a:srgbClr>
            </a:outerShdw>
          </a:effectLst>
        </p:spPr>
        <p:txBody>
          <a:bodyPr/>
          <a:lstStyle/>
          <a:p>
            <a:endParaRPr lang="ja-JP" altLang="en-US"/>
          </a:p>
        </p:txBody>
      </p:sp>
      <p:sp>
        <p:nvSpPr>
          <p:cNvPr id="14" name="Text 12"/>
          <p:cNvSpPr/>
          <p:nvPr/>
        </p:nvSpPr>
        <p:spPr>
          <a:xfrm>
            <a:off x="8229600" y="2103120"/>
            <a:ext cx="2560320" cy="228600"/>
          </a:xfrm>
          <a:prstGeom prst="rect">
            <a:avLst/>
          </a:prstGeom>
          <a:noFill/>
          <a:ln/>
        </p:spPr>
        <p:txBody>
          <a:bodyPr wrap="square" rtlCol="0" anchor="ctr"/>
          <a:lstStyle/>
          <a:p>
            <a:pPr marL="0" indent="0">
              <a:buNone/>
            </a:pPr>
            <a:r>
              <a:rPr lang="en-US" sz="1000" b="1" kern="0" spc="120" dirty="0">
                <a:solidFill>
                  <a:srgbClr val="1455D9"/>
                </a:solidFill>
              </a:rPr>
              <a:t>機会</a:t>
            </a:r>
            <a:endParaRPr lang="en-US" sz="1000" dirty="0"/>
          </a:p>
        </p:txBody>
      </p:sp>
      <p:sp>
        <p:nvSpPr>
          <p:cNvPr id="15" name="Text 13"/>
          <p:cNvSpPr/>
          <p:nvPr/>
        </p:nvSpPr>
        <p:spPr>
          <a:xfrm>
            <a:off x="8229600" y="2542032"/>
            <a:ext cx="2743200" cy="502920"/>
          </a:xfrm>
          <a:prstGeom prst="rect">
            <a:avLst/>
          </a:prstGeom>
          <a:noFill/>
          <a:ln/>
        </p:spPr>
        <p:txBody>
          <a:bodyPr wrap="square" lIns="0" tIns="0" rIns="0" bIns="0" rtlCol="0" anchor="ctr"/>
          <a:lstStyle/>
          <a:p>
            <a:pPr marL="0" indent="0">
              <a:buNone/>
            </a:pPr>
            <a:r>
              <a:rPr lang="en-US" sz="2100" b="1" dirty="0">
                <a:solidFill>
                  <a:srgbClr val="151515"/>
                </a:solidFill>
              </a:rPr>
              <a:t>高収益領域へ再配分</a:t>
            </a:r>
            <a:endParaRPr lang="en-US" sz="2100" dirty="0"/>
          </a:p>
        </p:txBody>
      </p:sp>
      <p:sp>
        <p:nvSpPr>
          <p:cNvPr id="16" name="Text 14"/>
          <p:cNvSpPr/>
          <p:nvPr/>
        </p:nvSpPr>
        <p:spPr>
          <a:xfrm>
            <a:off x="8229600" y="3182112"/>
            <a:ext cx="2788920" cy="475488"/>
          </a:xfrm>
          <a:prstGeom prst="rect">
            <a:avLst/>
          </a:prstGeom>
          <a:noFill/>
          <a:ln/>
        </p:spPr>
        <p:txBody>
          <a:bodyPr wrap="square" lIns="0" tIns="0" rIns="0" bIns="0" rtlCol="0" anchor="ctr"/>
          <a:lstStyle/>
          <a:p>
            <a:pPr marL="0" indent="0">
              <a:buNone/>
            </a:pPr>
            <a:r>
              <a:rPr lang="en-US" sz="1150" dirty="0">
                <a:solidFill>
                  <a:srgbClr val="656565"/>
                </a:solidFill>
              </a:rPr>
              <a:t>成長率と粗利率の両面で選別</a:t>
            </a:r>
            <a:endParaRPr lang="en-US" sz="1150" dirty="0"/>
          </a:p>
        </p:txBody>
      </p:sp>
      <p:sp>
        <p:nvSpPr>
          <p:cNvPr id="17" name="Shape 15"/>
          <p:cNvSpPr/>
          <p:nvPr/>
        </p:nvSpPr>
        <p:spPr>
          <a:xfrm>
            <a:off x="594360" y="4434840"/>
            <a:ext cx="10744200" cy="1005840"/>
          </a:xfrm>
          <a:prstGeom prst="rect">
            <a:avLst/>
          </a:prstGeom>
          <a:solidFill>
            <a:srgbClr val="151515"/>
          </a:solidFill>
          <a:ln w="12700">
            <a:solidFill>
              <a:srgbClr val="151515"/>
            </a:solidFill>
            <a:prstDash val="solid"/>
          </a:ln>
        </p:spPr>
        <p:txBody>
          <a:bodyPr/>
          <a:lstStyle/>
          <a:p>
            <a:endParaRPr lang="ja-JP" altLang="en-US"/>
          </a:p>
        </p:txBody>
      </p:sp>
      <p:sp>
        <p:nvSpPr>
          <p:cNvPr id="18" name="Text 16"/>
          <p:cNvSpPr/>
          <p:nvPr/>
        </p:nvSpPr>
        <p:spPr>
          <a:xfrm>
            <a:off x="868680" y="4718304"/>
            <a:ext cx="1645920" cy="228600"/>
          </a:xfrm>
          <a:prstGeom prst="rect">
            <a:avLst/>
          </a:prstGeom>
          <a:noFill/>
          <a:ln/>
        </p:spPr>
        <p:txBody>
          <a:bodyPr wrap="square" rtlCol="0" anchor="ctr"/>
          <a:lstStyle/>
          <a:p>
            <a:pPr marL="0" indent="0">
              <a:buNone/>
            </a:pPr>
            <a:r>
              <a:rPr lang="en-US" sz="1000" b="1" dirty="0">
                <a:solidFill>
                  <a:srgbClr val="76A2FF"/>
                </a:solidFill>
              </a:rPr>
              <a:t>本日の承認依頼</a:t>
            </a:r>
            <a:endParaRPr lang="en-US" sz="1000" dirty="0"/>
          </a:p>
        </p:txBody>
      </p:sp>
      <p:sp>
        <p:nvSpPr>
          <p:cNvPr id="19" name="Text 17"/>
          <p:cNvSpPr/>
          <p:nvPr/>
        </p:nvSpPr>
        <p:spPr>
          <a:xfrm>
            <a:off x="2560320" y="4645152"/>
            <a:ext cx="8138160" cy="384048"/>
          </a:xfrm>
          <a:prstGeom prst="rect">
            <a:avLst/>
          </a:prstGeom>
          <a:noFill/>
          <a:ln/>
        </p:spPr>
        <p:txBody>
          <a:bodyPr wrap="square" rtlCol="0" anchor="ctr"/>
          <a:lstStyle/>
          <a:p>
            <a:pPr marL="0" indent="0">
              <a:buNone/>
            </a:pPr>
            <a:r>
              <a:rPr lang="en-US" sz="2000" b="1" dirty="0">
                <a:solidFill>
                  <a:srgbClr val="FFFFFF"/>
                </a:solidFill>
              </a:rPr>
              <a:t>重点カテゴリへの投資枠と、候補地域の検証着手</a:t>
            </a:r>
            <a:endParaRPr lang="en-US" sz="20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03 / PERFORMANCE</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売上成長の一方、粗利率の改善余地が残る。</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数字を並べず、役員が見るべき差分を強調します。</a:t>
            </a:r>
            <a:endParaRPr lang="en-US" sz="1150" dirty="0"/>
          </a:p>
        </p:txBody>
      </p:sp>
      <p:sp>
        <p:nvSpPr>
          <p:cNvPr id="5" name="Text 3"/>
          <p:cNvSpPr/>
          <p:nvPr/>
        </p:nvSpPr>
        <p:spPr>
          <a:xfrm>
            <a:off x="640080" y="1828800"/>
            <a:ext cx="1097280" cy="228600"/>
          </a:xfrm>
          <a:prstGeom prst="rect">
            <a:avLst/>
          </a:prstGeom>
          <a:noFill/>
          <a:ln/>
        </p:spPr>
        <p:txBody>
          <a:bodyPr wrap="square" rtlCol="0" anchor="ctr"/>
          <a:lstStyle/>
          <a:p>
            <a:pPr marL="0" indent="0">
              <a:buNone/>
            </a:pPr>
            <a:r>
              <a:rPr lang="en-US" sz="1100" b="1" dirty="0">
                <a:solidFill>
                  <a:srgbClr val="656565"/>
                </a:solidFill>
              </a:rPr>
              <a:t>売上</a:t>
            </a:r>
            <a:endParaRPr lang="en-US" sz="1100" dirty="0"/>
          </a:p>
        </p:txBody>
      </p:sp>
      <p:sp>
        <p:nvSpPr>
          <p:cNvPr id="6" name="Text 4"/>
          <p:cNvSpPr/>
          <p:nvPr/>
        </p:nvSpPr>
        <p:spPr>
          <a:xfrm>
            <a:off x="640080" y="2157984"/>
            <a:ext cx="1234440" cy="594360"/>
          </a:xfrm>
          <a:prstGeom prst="rect">
            <a:avLst/>
          </a:prstGeom>
          <a:noFill/>
          <a:ln/>
        </p:spPr>
        <p:txBody>
          <a:bodyPr wrap="square" lIns="0" tIns="0" rIns="0" bIns="0" rtlCol="0" anchor="ctr"/>
          <a:lstStyle/>
          <a:p>
            <a:pPr marL="0" indent="0">
              <a:buNone/>
            </a:pPr>
            <a:r>
              <a:rPr lang="en-US" sz="3400" b="1" dirty="0">
                <a:solidFill>
                  <a:srgbClr val="151515"/>
                </a:solidFill>
              </a:rPr>
              <a:t>128</a:t>
            </a:r>
            <a:endParaRPr lang="en-US" sz="3400" dirty="0"/>
          </a:p>
        </p:txBody>
      </p:sp>
      <p:sp>
        <p:nvSpPr>
          <p:cNvPr id="7" name="Text 5"/>
          <p:cNvSpPr/>
          <p:nvPr/>
        </p:nvSpPr>
        <p:spPr>
          <a:xfrm>
            <a:off x="1938528" y="2423160"/>
            <a:ext cx="502920" cy="228600"/>
          </a:xfrm>
          <a:prstGeom prst="rect">
            <a:avLst/>
          </a:prstGeom>
          <a:noFill/>
          <a:ln/>
        </p:spPr>
        <p:txBody>
          <a:bodyPr wrap="square" rtlCol="0" anchor="ctr"/>
          <a:lstStyle/>
          <a:p>
            <a:pPr marL="0" indent="0">
              <a:buNone/>
            </a:pPr>
            <a:r>
              <a:rPr lang="en-US" sz="1200" dirty="0">
                <a:solidFill>
                  <a:srgbClr val="656565"/>
                </a:solidFill>
              </a:rPr>
              <a:t>億円</a:t>
            </a:r>
            <a:endParaRPr lang="en-US" sz="1200" dirty="0"/>
          </a:p>
        </p:txBody>
      </p:sp>
      <p:sp>
        <p:nvSpPr>
          <p:cNvPr id="8" name="Text 6"/>
          <p:cNvSpPr/>
          <p:nvPr/>
        </p:nvSpPr>
        <p:spPr>
          <a:xfrm>
            <a:off x="640080" y="2880360"/>
            <a:ext cx="1143000" cy="274320"/>
          </a:xfrm>
          <a:prstGeom prst="rect">
            <a:avLst/>
          </a:prstGeom>
          <a:noFill/>
          <a:ln/>
        </p:spPr>
        <p:txBody>
          <a:bodyPr wrap="square" rtlCol="0" anchor="ctr"/>
          <a:lstStyle/>
          <a:p>
            <a:pPr marL="0" indent="0">
              <a:buNone/>
            </a:pPr>
            <a:r>
              <a:rPr lang="en-US" sz="1300" b="1" dirty="0">
                <a:solidFill>
                  <a:srgbClr val="2C7A62"/>
                </a:solidFill>
              </a:rPr>
              <a:t>+8%</a:t>
            </a:r>
            <a:endParaRPr lang="en-US" sz="1300" dirty="0"/>
          </a:p>
        </p:txBody>
      </p:sp>
      <p:sp>
        <p:nvSpPr>
          <p:cNvPr id="9" name="Text 7"/>
          <p:cNvSpPr/>
          <p:nvPr/>
        </p:nvSpPr>
        <p:spPr>
          <a:xfrm>
            <a:off x="3200400" y="1828800"/>
            <a:ext cx="1097280" cy="228600"/>
          </a:xfrm>
          <a:prstGeom prst="rect">
            <a:avLst/>
          </a:prstGeom>
          <a:noFill/>
          <a:ln/>
        </p:spPr>
        <p:txBody>
          <a:bodyPr wrap="square" rtlCol="0" anchor="ctr"/>
          <a:lstStyle/>
          <a:p>
            <a:pPr marL="0" indent="0">
              <a:buNone/>
            </a:pPr>
            <a:r>
              <a:rPr lang="en-US" sz="1100" b="1" dirty="0">
                <a:solidFill>
                  <a:srgbClr val="656565"/>
                </a:solidFill>
              </a:rPr>
              <a:t>粗利</a:t>
            </a:r>
            <a:endParaRPr lang="en-US" sz="1100" dirty="0"/>
          </a:p>
        </p:txBody>
      </p:sp>
      <p:sp>
        <p:nvSpPr>
          <p:cNvPr id="10" name="Text 8"/>
          <p:cNvSpPr/>
          <p:nvPr/>
        </p:nvSpPr>
        <p:spPr>
          <a:xfrm>
            <a:off x="3200400" y="2157984"/>
            <a:ext cx="1234440" cy="594360"/>
          </a:xfrm>
          <a:prstGeom prst="rect">
            <a:avLst/>
          </a:prstGeom>
          <a:noFill/>
          <a:ln/>
        </p:spPr>
        <p:txBody>
          <a:bodyPr wrap="square" lIns="0" tIns="0" rIns="0" bIns="0" rtlCol="0" anchor="ctr"/>
          <a:lstStyle/>
          <a:p>
            <a:pPr marL="0" indent="0">
              <a:buNone/>
            </a:pPr>
            <a:r>
              <a:rPr lang="en-US" sz="3400" b="1" dirty="0">
                <a:solidFill>
                  <a:srgbClr val="151515"/>
                </a:solidFill>
              </a:rPr>
              <a:t>46</a:t>
            </a:r>
            <a:endParaRPr lang="en-US" sz="3400" dirty="0"/>
          </a:p>
        </p:txBody>
      </p:sp>
      <p:sp>
        <p:nvSpPr>
          <p:cNvPr id="11" name="Text 9"/>
          <p:cNvSpPr/>
          <p:nvPr/>
        </p:nvSpPr>
        <p:spPr>
          <a:xfrm>
            <a:off x="4498848" y="2423160"/>
            <a:ext cx="502920" cy="228600"/>
          </a:xfrm>
          <a:prstGeom prst="rect">
            <a:avLst/>
          </a:prstGeom>
          <a:noFill/>
          <a:ln/>
        </p:spPr>
        <p:txBody>
          <a:bodyPr wrap="square" rtlCol="0" anchor="ctr"/>
          <a:lstStyle/>
          <a:p>
            <a:pPr marL="0" indent="0">
              <a:buNone/>
            </a:pPr>
            <a:r>
              <a:rPr lang="en-US" sz="1200" dirty="0">
                <a:solidFill>
                  <a:srgbClr val="656565"/>
                </a:solidFill>
              </a:rPr>
              <a:t>億円</a:t>
            </a:r>
            <a:endParaRPr lang="en-US" sz="1200" dirty="0"/>
          </a:p>
        </p:txBody>
      </p:sp>
      <p:sp>
        <p:nvSpPr>
          <p:cNvPr id="12" name="Text 10"/>
          <p:cNvSpPr/>
          <p:nvPr/>
        </p:nvSpPr>
        <p:spPr>
          <a:xfrm>
            <a:off x="3200400" y="2880360"/>
            <a:ext cx="1143000" cy="274320"/>
          </a:xfrm>
          <a:prstGeom prst="rect">
            <a:avLst/>
          </a:prstGeom>
          <a:noFill/>
          <a:ln/>
        </p:spPr>
        <p:txBody>
          <a:bodyPr wrap="square" rtlCol="0" anchor="ctr"/>
          <a:lstStyle/>
          <a:p>
            <a:pPr marL="0" indent="0">
              <a:buNone/>
            </a:pPr>
            <a:r>
              <a:rPr lang="en-US" sz="1300" b="1" dirty="0">
                <a:solidFill>
                  <a:srgbClr val="2C7A62"/>
                </a:solidFill>
              </a:rPr>
              <a:t>+4%</a:t>
            </a:r>
            <a:endParaRPr lang="en-US" sz="1300" dirty="0"/>
          </a:p>
        </p:txBody>
      </p:sp>
      <p:sp>
        <p:nvSpPr>
          <p:cNvPr id="13" name="Text 11"/>
          <p:cNvSpPr/>
          <p:nvPr/>
        </p:nvSpPr>
        <p:spPr>
          <a:xfrm>
            <a:off x="5760720" y="1828800"/>
            <a:ext cx="1097280" cy="228600"/>
          </a:xfrm>
          <a:prstGeom prst="rect">
            <a:avLst/>
          </a:prstGeom>
          <a:noFill/>
          <a:ln/>
        </p:spPr>
        <p:txBody>
          <a:bodyPr wrap="square" rtlCol="0" anchor="ctr"/>
          <a:lstStyle/>
          <a:p>
            <a:pPr marL="0" indent="0">
              <a:buNone/>
            </a:pPr>
            <a:r>
              <a:rPr lang="en-US" sz="1100" b="1" dirty="0">
                <a:solidFill>
                  <a:srgbClr val="656565"/>
                </a:solidFill>
              </a:rPr>
              <a:t>粗利率</a:t>
            </a:r>
            <a:endParaRPr lang="en-US" sz="1100" dirty="0"/>
          </a:p>
        </p:txBody>
      </p:sp>
      <p:sp>
        <p:nvSpPr>
          <p:cNvPr id="14" name="Text 12"/>
          <p:cNvSpPr/>
          <p:nvPr/>
        </p:nvSpPr>
        <p:spPr>
          <a:xfrm>
            <a:off x="5760720" y="2157984"/>
            <a:ext cx="1234440" cy="594360"/>
          </a:xfrm>
          <a:prstGeom prst="rect">
            <a:avLst/>
          </a:prstGeom>
          <a:noFill/>
          <a:ln/>
        </p:spPr>
        <p:txBody>
          <a:bodyPr wrap="square" lIns="0" tIns="0" rIns="0" bIns="0" rtlCol="0" anchor="ctr"/>
          <a:lstStyle/>
          <a:p>
            <a:pPr marL="0" indent="0">
              <a:buNone/>
            </a:pPr>
            <a:r>
              <a:rPr lang="en-US" sz="3400" b="1" dirty="0">
                <a:solidFill>
                  <a:srgbClr val="151515"/>
                </a:solidFill>
              </a:rPr>
              <a:t>35.9</a:t>
            </a:r>
            <a:endParaRPr lang="en-US" sz="3400" dirty="0"/>
          </a:p>
        </p:txBody>
      </p:sp>
      <p:sp>
        <p:nvSpPr>
          <p:cNvPr id="15" name="Text 13"/>
          <p:cNvSpPr/>
          <p:nvPr/>
        </p:nvSpPr>
        <p:spPr>
          <a:xfrm>
            <a:off x="7059168" y="2423160"/>
            <a:ext cx="502920" cy="228600"/>
          </a:xfrm>
          <a:prstGeom prst="rect">
            <a:avLst/>
          </a:prstGeom>
          <a:noFill/>
          <a:ln/>
        </p:spPr>
        <p:txBody>
          <a:bodyPr wrap="square" rtlCol="0" anchor="ctr"/>
          <a:lstStyle/>
          <a:p>
            <a:pPr marL="0" indent="0">
              <a:buNone/>
            </a:pPr>
            <a:r>
              <a:rPr lang="en-US" sz="1200" dirty="0">
                <a:solidFill>
                  <a:srgbClr val="656565"/>
                </a:solidFill>
              </a:rPr>
              <a:t>%</a:t>
            </a:r>
            <a:endParaRPr lang="en-US" sz="1200" dirty="0"/>
          </a:p>
        </p:txBody>
      </p:sp>
      <p:sp>
        <p:nvSpPr>
          <p:cNvPr id="16" name="Text 14"/>
          <p:cNvSpPr/>
          <p:nvPr/>
        </p:nvSpPr>
        <p:spPr>
          <a:xfrm>
            <a:off x="5760720" y="2880360"/>
            <a:ext cx="1143000" cy="274320"/>
          </a:xfrm>
          <a:prstGeom prst="rect">
            <a:avLst/>
          </a:prstGeom>
          <a:noFill/>
          <a:ln/>
        </p:spPr>
        <p:txBody>
          <a:bodyPr wrap="square" rtlCol="0" anchor="ctr"/>
          <a:lstStyle/>
          <a:p>
            <a:pPr marL="0" indent="0">
              <a:buNone/>
            </a:pPr>
            <a:r>
              <a:rPr lang="en-US" sz="1300" b="1" dirty="0">
                <a:solidFill>
                  <a:srgbClr val="B84747"/>
                </a:solidFill>
              </a:rPr>
              <a:t>-1.2pt</a:t>
            </a:r>
            <a:endParaRPr lang="en-US" sz="1300" dirty="0"/>
          </a:p>
        </p:txBody>
      </p:sp>
      <p:sp>
        <p:nvSpPr>
          <p:cNvPr id="17" name="Shape 15"/>
          <p:cNvSpPr/>
          <p:nvPr/>
        </p:nvSpPr>
        <p:spPr>
          <a:xfrm>
            <a:off x="8229600" y="1737360"/>
            <a:ext cx="3108960" cy="3383280"/>
          </a:xfrm>
          <a:prstGeom prst="rect">
            <a:avLst/>
          </a:prstGeom>
          <a:solidFill>
            <a:srgbClr val="FFFFFF"/>
          </a:solidFill>
          <a:ln w="12700">
            <a:solidFill>
              <a:srgbClr val="CFCBC3"/>
            </a:solidFill>
            <a:prstDash val="solid"/>
          </a:ln>
        </p:spPr>
        <p:txBody>
          <a:bodyPr/>
          <a:lstStyle/>
          <a:p>
            <a:endParaRPr lang="ja-JP" altLang="en-US"/>
          </a:p>
        </p:txBody>
      </p:sp>
      <p:sp>
        <p:nvSpPr>
          <p:cNvPr id="18" name="Text 16"/>
          <p:cNvSpPr/>
          <p:nvPr/>
        </p:nvSpPr>
        <p:spPr>
          <a:xfrm>
            <a:off x="8823960" y="2971800"/>
            <a:ext cx="1737360" cy="320040"/>
          </a:xfrm>
          <a:prstGeom prst="rect">
            <a:avLst/>
          </a:prstGeom>
          <a:noFill/>
          <a:ln/>
        </p:spPr>
        <p:txBody>
          <a:bodyPr wrap="square" rtlCol="0" anchor="ctr"/>
          <a:lstStyle/>
          <a:p>
            <a:pPr marL="0" indent="0" algn="ctr">
              <a:buNone/>
            </a:pPr>
            <a:r>
              <a:rPr lang="en-US" sz="1700" b="1" dirty="0">
                <a:solidFill>
                  <a:srgbClr val="A0A0A0"/>
                </a:solidFill>
              </a:rPr>
              <a:t>CHART AREA</a:t>
            </a:r>
            <a:endParaRPr lang="en-US" sz="1700" dirty="0"/>
          </a:p>
        </p:txBody>
      </p:sp>
      <p:sp>
        <p:nvSpPr>
          <p:cNvPr id="19" name="Text 17"/>
          <p:cNvSpPr/>
          <p:nvPr/>
        </p:nvSpPr>
        <p:spPr>
          <a:xfrm>
            <a:off x="8549640" y="3429000"/>
            <a:ext cx="2468880" cy="274320"/>
          </a:xfrm>
          <a:prstGeom prst="rect">
            <a:avLst/>
          </a:prstGeom>
          <a:noFill/>
          <a:ln/>
        </p:spPr>
        <p:txBody>
          <a:bodyPr wrap="square" rtlCol="0" anchor="ctr"/>
          <a:lstStyle/>
          <a:p>
            <a:pPr marL="0" indent="0" algn="ctr">
              <a:buNone/>
            </a:pPr>
            <a:r>
              <a:rPr lang="en-US" sz="1000" dirty="0">
                <a:solidFill>
                  <a:srgbClr val="656565"/>
                </a:solidFill>
              </a:rPr>
              <a:t>Excelの売上・粗利推移を配置</a:t>
            </a:r>
            <a:endParaRPr lang="en-US" sz="1000" dirty="0"/>
          </a:p>
        </p:txBody>
      </p:sp>
      <p:sp>
        <p:nvSpPr>
          <p:cNvPr id="20" name="Text 18"/>
          <p:cNvSpPr/>
          <p:nvPr/>
        </p:nvSpPr>
        <p:spPr>
          <a:xfrm>
            <a:off x="640080" y="3840480"/>
            <a:ext cx="731520" cy="228600"/>
          </a:xfrm>
          <a:prstGeom prst="rect">
            <a:avLst/>
          </a:prstGeom>
          <a:noFill/>
          <a:ln/>
        </p:spPr>
        <p:txBody>
          <a:bodyPr wrap="square" rtlCol="0" anchor="ctr"/>
          <a:lstStyle/>
          <a:p>
            <a:pPr marL="0" indent="0">
              <a:buNone/>
            </a:pPr>
            <a:r>
              <a:rPr lang="en-US" sz="1000" b="1" dirty="0">
                <a:solidFill>
                  <a:srgbClr val="1455D9"/>
                </a:solidFill>
              </a:rPr>
              <a:t>示唆</a:t>
            </a:r>
            <a:endParaRPr lang="en-US" sz="1000" dirty="0"/>
          </a:p>
        </p:txBody>
      </p:sp>
      <p:sp>
        <p:nvSpPr>
          <p:cNvPr id="21" name="Text 19"/>
          <p:cNvSpPr/>
          <p:nvPr/>
        </p:nvSpPr>
        <p:spPr>
          <a:xfrm>
            <a:off x="640080" y="4187952"/>
            <a:ext cx="6675120" cy="777240"/>
          </a:xfrm>
          <a:prstGeom prst="rect">
            <a:avLst/>
          </a:prstGeom>
          <a:noFill/>
          <a:ln/>
        </p:spPr>
        <p:txBody>
          <a:bodyPr wrap="square" lIns="0" tIns="0" rIns="0" bIns="0" rtlCol="0" anchor="ctr"/>
          <a:lstStyle/>
          <a:p>
            <a:pPr marL="0" indent="0">
              <a:buNone/>
            </a:pPr>
            <a:r>
              <a:rPr lang="en-US" sz="2300" b="1" dirty="0">
                <a:solidFill>
                  <a:srgbClr val="151515"/>
                </a:solidFill>
              </a:rPr>
              <a:t>成長率の高い領域でも、粗利率が低い場合は投資条件を設定する。</a:t>
            </a:r>
            <a:endParaRPr lang="en-US" sz="23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04 / PORTFOLIO</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「売れている」から「投資に値する」へ。</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成長率と粗利率で4象限に分ける前年の判断フォーマットです。</a:t>
            </a:r>
            <a:endParaRPr lang="en-US" sz="1150" dirty="0"/>
          </a:p>
        </p:txBody>
      </p:sp>
      <p:sp>
        <p:nvSpPr>
          <p:cNvPr id="5" name="Shape 3"/>
          <p:cNvSpPr/>
          <p:nvPr/>
        </p:nvSpPr>
        <p:spPr>
          <a:xfrm>
            <a:off x="777240" y="1901952"/>
            <a:ext cx="6309360" cy="3657600"/>
          </a:xfrm>
          <a:prstGeom prst="rect">
            <a:avLst/>
          </a:prstGeom>
          <a:solidFill>
            <a:srgbClr val="FFFFFF"/>
          </a:solidFill>
          <a:ln w="12700">
            <a:solidFill>
              <a:srgbClr val="CFCBC3"/>
            </a:solidFill>
            <a:prstDash val="solid"/>
          </a:ln>
        </p:spPr>
        <p:txBody>
          <a:bodyPr/>
          <a:lstStyle/>
          <a:p>
            <a:endParaRPr lang="ja-JP" altLang="en-US"/>
          </a:p>
        </p:txBody>
      </p:sp>
      <p:sp>
        <p:nvSpPr>
          <p:cNvPr id="6" name="Shape 4"/>
          <p:cNvSpPr/>
          <p:nvPr/>
        </p:nvSpPr>
        <p:spPr>
          <a:xfrm>
            <a:off x="3931920" y="1901952"/>
            <a:ext cx="1" cy="3657600"/>
          </a:xfrm>
          <a:prstGeom prst="line">
            <a:avLst/>
          </a:prstGeom>
          <a:noFill/>
          <a:ln w="12700">
            <a:solidFill>
              <a:srgbClr val="CFCBC3"/>
            </a:solidFill>
            <a:prstDash val="solid"/>
          </a:ln>
        </p:spPr>
        <p:txBody>
          <a:bodyPr/>
          <a:lstStyle/>
          <a:p>
            <a:endParaRPr lang="ja-JP" altLang="en-US"/>
          </a:p>
        </p:txBody>
      </p:sp>
      <p:sp>
        <p:nvSpPr>
          <p:cNvPr id="7" name="Shape 5"/>
          <p:cNvSpPr/>
          <p:nvPr/>
        </p:nvSpPr>
        <p:spPr>
          <a:xfrm>
            <a:off x="777240" y="3730752"/>
            <a:ext cx="6309360" cy="1"/>
          </a:xfrm>
          <a:prstGeom prst="line">
            <a:avLst/>
          </a:prstGeom>
          <a:noFill/>
          <a:ln w="12700">
            <a:solidFill>
              <a:srgbClr val="CFCBC3"/>
            </a:solidFill>
            <a:prstDash val="solid"/>
          </a:ln>
        </p:spPr>
        <p:txBody>
          <a:bodyPr/>
          <a:lstStyle/>
          <a:p>
            <a:endParaRPr lang="ja-JP" altLang="en-US"/>
          </a:p>
        </p:txBody>
      </p:sp>
      <p:sp>
        <p:nvSpPr>
          <p:cNvPr id="8" name="Text 6"/>
          <p:cNvSpPr/>
          <p:nvPr/>
        </p:nvSpPr>
        <p:spPr>
          <a:xfrm>
            <a:off x="1005840" y="2130552"/>
            <a:ext cx="2560320" cy="274320"/>
          </a:xfrm>
          <a:prstGeom prst="rect">
            <a:avLst/>
          </a:prstGeom>
          <a:noFill/>
          <a:ln/>
        </p:spPr>
        <p:txBody>
          <a:bodyPr wrap="square" rtlCol="0" anchor="ctr"/>
          <a:lstStyle/>
          <a:p>
            <a:pPr marL="0" indent="0">
              <a:buNone/>
            </a:pPr>
            <a:r>
              <a:rPr lang="en-US" sz="1100" b="1" dirty="0">
                <a:solidFill>
                  <a:srgbClr val="656565"/>
                </a:solidFill>
              </a:rPr>
              <a:t>選択的拡大</a:t>
            </a:r>
            <a:endParaRPr lang="en-US" sz="1100" dirty="0"/>
          </a:p>
        </p:txBody>
      </p:sp>
      <p:sp>
        <p:nvSpPr>
          <p:cNvPr id="9" name="Text 7"/>
          <p:cNvSpPr/>
          <p:nvPr/>
        </p:nvSpPr>
        <p:spPr>
          <a:xfrm>
            <a:off x="4206240" y="2130552"/>
            <a:ext cx="2560320" cy="274320"/>
          </a:xfrm>
          <a:prstGeom prst="rect">
            <a:avLst/>
          </a:prstGeom>
          <a:noFill/>
          <a:ln/>
        </p:spPr>
        <p:txBody>
          <a:bodyPr wrap="square" rtlCol="0" anchor="ctr"/>
          <a:lstStyle/>
          <a:p>
            <a:pPr marL="0" indent="0">
              <a:buNone/>
            </a:pPr>
            <a:r>
              <a:rPr lang="en-US" sz="1100" b="1" dirty="0">
                <a:solidFill>
                  <a:srgbClr val="656565"/>
                </a:solidFill>
              </a:rPr>
              <a:t>成長投資</a:t>
            </a:r>
            <a:endParaRPr lang="en-US" sz="1100" dirty="0"/>
          </a:p>
        </p:txBody>
      </p:sp>
      <p:sp>
        <p:nvSpPr>
          <p:cNvPr id="10" name="Text 8"/>
          <p:cNvSpPr/>
          <p:nvPr/>
        </p:nvSpPr>
        <p:spPr>
          <a:xfrm>
            <a:off x="1005840" y="3959352"/>
            <a:ext cx="2560320" cy="274320"/>
          </a:xfrm>
          <a:prstGeom prst="rect">
            <a:avLst/>
          </a:prstGeom>
          <a:noFill/>
          <a:ln/>
        </p:spPr>
        <p:txBody>
          <a:bodyPr wrap="square" rtlCol="0" anchor="ctr"/>
          <a:lstStyle/>
          <a:p>
            <a:pPr marL="0" indent="0">
              <a:buNone/>
            </a:pPr>
            <a:r>
              <a:rPr lang="en-US" sz="1100" b="1" dirty="0">
                <a:solidFill>
                  <a:srgbClr val="656565"/>
                </a:solidFill>
              </a:rPr>
              <a:t>再設計</a:t>
            </a:r>
            <a:endParaRPr lang="en-US" sz="1100" dirty="0"/>
          </a:p>
        </p:txBody>
      </p:sp>
      <p:sp>
        <p:nvSpPr>
          <p:cNvPr id="11" name="Text 9"/>
          <p:cNvSpPr/>
          <p:nvPr/>
        </p:nvSpPr>
        <p:spPr>
          <a:xfrm>
            <a:off x="4206240" y="3959352"/>
            <a:ext cx="2560320" cy="274320"/>
          </a:xfrm>
          <a:prstGeom prst="rect">
            <a:avLst/>
          </a:prstGeom>
          <a:noFill/>
          <a:ln/>
        </p:spPr>
        <p:txBody>
          <a:bodyPr wrap="square" rtlCol="0" anchor="ctr"/>
          <a:lstStyle/>
          <a:p>
            <a:pPr marL="0" indent="0">
              <a:buNone/>
            </a:pPr>
            <a:r>
              <a:rPr lang="en-US" sz="1100" b="1" dirty="0">
                <a:solidFill>
                  <a:srgbClr val="656565"/>
                </a:solidFill>
              </a:rPr>
              <a:t>収益改善を条件に投資</a:t>
            </a:r>
            <a:endParaRPr lang="en-US" sz="1100" dirty="0"/>
          </a:p>
        </p:txBody>
      </p:sp>
      <p:sp>
        <p:nvSpPr>
          <p:cNvPr id="12" name="Shape 10"/>
          <p:cNvSpPr/>
          <p:nvPr/>
        </p:nvSpPr>
        <p:spPr>
          <a:xfrm>
            <a:off x="1828800" y="2743200"/>
            <a:ext cx="548640" cy="548640"/>
          </a:xfrm>
          <a:prstGeom prst="ellipse">
            <a:avLst/>
          </a:prstGeom>
          <a:solidFill>
            <a:srgbClr val="2C7A62">
              <a:alpha val="85000"/>
            </a:srgbClr>
          </a:solidFill>
          <a:ln w="12700">
            <a:solidFill>
              <a:srgbClr val="2C7A62"/>
            </a:solidFill>
            <a:prstDash val="solid"/>
          </a:ln>
        </p:spPr>
        <p:txBody>
          <a:bodyPr/>
          <a:lstStyle/>
          <a:p>
            <a:endParaRPr lang="ja-JP" altLang="en-US"/>
          </a:p>
        </p:txBody>
      </p:sp>
      <p:sp>
        <p:nvSpPr>
          <p:cNvPr id="13" name="Text 11"/>
          <p:cNvSpPr/>
          <p:nvPr/>
        </p:nvSpPr>
        <p:spPr>
          <a:xfrm>
            <a:off x="1828800" y="2880360"/>
            <a:ext cx="548640" cy="182880"/>
          </a:xfrm>
          <a:prstGeom prst="rect">
            <a:avLst/>
          </a:prstGeom>
          <a:no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14" name="Shape 12"/>
          <p:cNvSpPr/>
          <p:nvPr/>
        </p:nvSpPr>
        <p:spPr>
          <a:xfrm>
            <a:off x="5029200" y="2468880"/>
            <a:ext cx="731520" cy="731520"/>
          </a:xfrm>
          <a:prstGeom prst="ellipse">
            <a:avLst/>
          </a:prstGeom>
          <a:solidFill>
            <a:srgbClr val="1455D9">
              <a:alpha val="85000"/>
            </a:srgbClr>
          </a:solidFill>
          <a:ln w="12700">
            <a:solidFill>
              <a:srgbClr val="1455D9"/>
            </a:solidFill>
            <a:prstDash val="solid"/>
          </a:ln>
        </p:spPr>
        <p:txBody>
          <a:bodyPr/>
          <a:lstStyle/>
          <a:p>
            <a:endParaRPr lang="ja-JP" altLang="en-US"/>
          </a:p>
        </p:txBody>
      </p:sp>
      <p:sp>
        <p:nvSpPr>
          <p:cNvPr id="15" name="Text 13"/>
          <p:cNvSpPr/>
          <p:nvPr/>
        </p:nvSpPr>
        <p:spPr>
          <a:xfrm>
            <a:off x="5029200" y="2667000"/>
            <a:ext cx="731520" cy="182880"/>
          </a:xfrm>
          <a:prstGeom prst="rect">
            <a:avLst/>
          </a:prstGeom>
          <a:no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16" name="Shape 14"/>
          <p:cNvSpPr/>
          <p:nvPr/>
        </p:nvSpPr>
        <p:spPr>
          <a:xfrm>
            <a:off x="4389120" y="4572000"/>
            <a:ext cx="594360" cy="594360"/>
          </a:xfrm>
          <a:prstGeom prst="ellipse">
            <a:avLst/>
          </a:prstGeom>
          <a:solidFill>
            <a:srgbClr val="D66A2C">
              <a:alpha val="85000"/>
            </a:srgbClr>
          </a:solidFill>
          <a:ln w="12700">
            <a:solidFill>
              <a:srgbClr val="D66A2C"/>
            </a:solidFill>
            <a:prstDash val="solid"/>
          </a:ln>
        </p:spPr>
        <p:txBody>
          <a:bodyPr/>
          <a:lstStyle/>
          <a:p>
            <a:endParaRPr lang="ja-JP" altLang="en-US"/>
          </a:p>
        </p:txBody>
      </p:sp>
      <p:sp>
        <p:nvSpPr>
          <p:cNvPr id="17" name="Text 15"/>
          <p:cNvSpPr/>
          <p:nvPr/>
        </p:nvSpPr>
        <p:spPr>
          <a:xfrm>
            <a:off x="4389120" y="4724400"/>
            <a:ext cx="594360" cy="182880"/>
          </a:xfrm>
          <a:prstGeom prst="rect">
            <a:avLst/>
          </a:prstGeom>
          <a:noFill/>
          <a:ln/>
        </p:spPr>
        <p:txBody>
          <a:bodyPr wrap="square" lIns="0" tIns="0" rIns="0" bIns="0" rtlCol="0" anchor="ctr"/>
          <a:lstStyle/>
          <a:p>
            <a:pPr marL="0" indent="0" algn="ctr">
              <a:buNone/>
            </a:pPr>
            <a:r>
              <a:rPr lang="en-US" sz="1000" b="1" dirty="0">
                <a:solidFill>
                  <a:srgbClr val="FFFFFF"/>
                </a:solidFill>
              </a:rPr>
              <a:t>C</a:t>
            </a:r>
            <a:endParaRPr lang="en-US" sz="1000" dirty="0"/>
          </a:p>
        </p:txBody>
      </p:sp>
      <p:sp>
        <p:nvSpPr>
          <p:cNvPr id="18" name="Shape 16"/>
          <p:cNvSpPr/>
          <p:nvPr/>
        </p:nvSpPr>
        <p:spPr>
          <a:xfrm>
            <a:off x="2103120" y="4663440"/>
            <a:ext cx="457200" cy="457200"/>
          </a:xfrm>
          <a:prstGeom prst="ellipse">
            <a:avLst/>
          </a:prstGeom>
          <a:solidFill>
            <a:srgbClr val="B84747">
              <a:alpha val="85000"/>
            </a:srgbClr>
          </a:solidFill>
          <a:ln w="12700">
            <a:solidFill>
              <a:srgbClr val="B84747"/>
            </a:solidFill>
            <a:prstDash val="solid"/>
          </a:ln>
        </p:spPr>
        <p:txBody>
          <a:bodyPr/>
          <a:lstStyle/>
          <a:p>
            <a:endParaRPr lang="ja-JP" altLang="en-US"/>
          </a:p>
        </p:txBody>
      </p:sp>
      <p:sp>
        <p:nvSpPr>
          <p:cNvPr id="19" name="Text 17"/>
          <p:cNvSpPr/>
          <p:nvPr/>
        </p:nvSpPr>
        <p:spPr>
          <a:xfrm>
            <a:off x="2103120" y="4770120"/>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D</a:t>
            </a:r>
            <a:endParaRPr lang="en-US" sz="1000" dirty="0"/>
          </a:p>
        </p:txBody>
      </p:sp>
      <p:sp>
        <p:nvSpPr>
          <p:cNvPr id="20" name="Text 18"/>
          <p:cNvSpPr/>
          <p:nvPr/>
        </p:nvSpPr>
        <p:spPr>
          <a:xfrm rot="16200000">
            <a:off x="182880" y="3337560"/>
            <a:ext cx="411480" cy="365760"/>
          </a:xfrm>
          <a:prstGeom prst="rect">
            <a:avLst/>
          </a:prstGeom>
          <a:noFill/>
          <a:ln/>
        </p:spPr>
        <p:txBody>
          <a:bodyPr wrap="square" rtlCol="0" anchor="ctr"/>
          <a:lstStyle/>
          <a:p>
            <a:pPr marL="0" indent="0">
              <a:buNone/>
            </a:pPr>
            <a:r>
              <a:rPr lang="en-US" sz="1000" dirty="0">
                <a:solidFill>
                  <a:srgbClr val="656565"/>
                </a:solidFill>
              </a:rPr>
              <a:t>粗利率  ↑</a:t>
            </a:r>
            <a:endParaRPr lang="en-US" sz="1000" dirty="0"/>
          </a:p>
        </p:txBody>
      </p:sp>
      <p:sp>
        <p:nvSpPr>
          <p:cNvPr id="21" name="Text 19"/>
          <p:cNvSpPr/>
          <p:nvPr/>
        </p:nvSpPr>
        <p:spPr>
          <a:xfrm>
            <a:off x="2834640" y="5669280"/>
            <a:ext cx="1920240" cy="228600"/>
          </a:xfrm>
          <a:prstGeom prst="rect">
            <a:avLst/>
          </a:prstGeom>
          <a:noFill/>
          <a:ln/>
        </p:spPr>
        <p:txBody>
          <a:bodyPr wrap="square" rtlCol="0" anchor="ctr"/>
          <a:lstStyle/>
          <a:p>
            <a:pPr marL="0" indent="0" algn="ctr">
              <a:buNone/>
            </a:pPr>
            <a:r>
              <a:rPr lang="en-US" sz="1000" dirty="0">
                <a:solidFill>
                  <a:srgbClr val="656565"/>
                </a:solidFill>
              </a:rPr>
              <a:t>前年比成長率  →</a:t>
            </a:r>
            <a:endParaRPr lang="en-US" sz="1000" dirty="0"/>
          </a:p>
        </p:txBody>
      </p:sp>
      <p:pic>
        <p:nvPicPr>
          <p:cNvPr id="22" name="Image 0" descr="/mnt/data/7c0f8c08e9.png"/>
          <p:cNvPicPr>
            <a:picLocks noChangeAspect="1"/>
          </p:cNvPicPr>
          <p:nvPr/>
        </p:nvPicPr>
        <p:blipFill>
          <a:blip r:embed="rId3"/>
          <a:srcRect t="13393" b="13393"/>
          <a:stretch/>
        </p:blipFill>
        <p:spPr>
          <a:xfrm>
            <a:off x="7498080" y="1901952"/>
            <a:ext cx="3840480" cy="1874520"/>
          </a:xfrm>
          <a:prstGeom prst="rect">
            <a:avLst/>
          </a:prstGeom>
        </p:spPr>
      </p:pic>
      <p:sp>
        <p:nvSpPr>
          <p:cNvPr id="23" name="Text 20"/>
          <p:cNvSpPr/>
          <p:nvPr/>
        </p:nvSpPr>
        <p:spPr>
          <a:xfrm>
            <a:off x="7498080" y="4096512"/>
            <a:ext cx="1371600" cy="228600"/>
          </a:xfrm>
          <a:prstGeom prst="rect">
            <a:avLst/>
          </a:prstGeom>
          <a:noFill/>
          <a:ln/>
        </p:spPr>
        <p:txBody>
          <a:bodyPr wrap="square" rtlCol="0" anchor="ctr"/>
          <a:lstStyle/>
          <a:p>
            <a:pPr marL="0" indent="0">
              <a:buNone/>
            </a:pPr>
            <a:r>
              <a:rPr lang="en-US" sz="1000" b="1" dirty="0">
                <a:solidFill>
                  <a:srgbClr val="1455D9"/>
                </a:solidFill>
              </a:rPr>
              <a:t>前年の判断例</a:t>
            </a:r>
            <a:endParaRPr lang="en-US" sz="1000" dirty="0"/>
          </a:p>
        </p:txBody>
      </p:sp>
      <p:sp>
        <p:nvSpPr>
          <p:cNvPr id="24" name="Text 21"/>
          <p:cNvSpPr/>
          <p:nvPr/>
        </p:nvSpPr>
        <p:spPr>
          <a:xfrm>
            <a:off x="7498080" y="4453128"/>
            <a:ext cx="3657600" cy="777240"/>
          </a:xfrm>
          <a:prstGeom prst="rect">
            <a:avLst/>
          </a:prstGeom>
          <a:noFill/>
          <a:ln/>
        </p:spPr>
        <p:txBody>
          <a:bodyPr wrap="square" lIns="0" tIns="0" rIns="0" bIns="0" rtlCol="0" anchor="ctr"/>
          <a:lstStyle/>
          <a:p>
            <a:pPr marL="0" indent="0">
              <a:buNone/>
            </a:pPr>
            <a:r>
              <a:rPr lang="en-US" sz="1800" b="1" dirty="0">
                <a:solidFill>
                  <a:srgbClr val="151515"/>
                </a:solidFill>
              </a:rPr>
              <a:t>高成長・高収益を優先し、</a:t>
            </a:r>
            <a:endParaRPr lang="en-US" sz="1800" dirty="0"/>
          </a:p>
          <a:p>
            <a:pPr marL="0" indent="0">
              <a:buNone/>
            </a:pPr>
            <a:r>
              <a:rPr lang="en-US" sz="1800" b="1" dirty="0">
                <a:solidFill>
                  <a:srgbClr val="151515"/>
                </a:solidFill>
              </a:rPr>
              <a:t>高成長・低収益には改善条件を置く。</a:t>
            </a:r>
            <a:endParaRPr lang="en-US" sz="18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05 / MARKET EXPANSION</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新規出店は、一括決定ではなく検証ゲートを置く。</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候補を比較し、機会・リスク・次の確認を同じ型で示します。</a:t>
            </a:r>
            <a:endParaRPr lang="en-US" sz="1150" dirty="0"/>
          </a:p>
        </p:txBody>
      </p:sp>
      <p:sp>
        <p:nvSpPr>
          <p:cNvPr id="5" name="Shape 3"/>
          <p:cNvSpPr/>
          <p:nvPr/>
        </p:nvSpPr>
        <p:spPr>
          <a:xfrm>
            <a:off x="594360" y="1828800"/>
            <a:ext cx="3337560" cy="3429000"/>
          </a:xfrm>
          <a:prstGeom prst="rect">
            <a:avLst/>
          </a:prstGeom>
          <a:solidFill>
            <a:srgbClr val="E7EEFF"/>
          </a:solidFill>
          <a:ln w="25400">
            <a:solidFill>
              <a:srgbClr val="1455D9"/>
            </a:solidFill>
            <a:prstDash val="solid"/>
          </a:ln>
        </p:spPr>
        <p:txBody>
          <a:bodyPr/>
          <a:lstStyle/>
          <a:p>
            <a:endParaRPr lang="ja-JP" altLang="en-US"/>
          </a:p>
        </p:txBody>
      </p:sp>
      <p:sp>
        <p:nvSpPr>
          <p:cNvPr id="6" name="Text 4"/>
          <p:cNvSpPr/>
          <p:nvPr/>
        </p:nvSpPr>
        <p:spPr>
          <a:xfrm>
            <a:off x="822960" y="2029968"/>
            <a:ext cx="457200" cy="320040"/>
          </a:xfrm>
          <a:prstGeom prst="rect">
            <a:avLst/>
          </a:prstGeom>
          <a:noFill/>
          <a:ln/>
        </p:spPr>
        <p:txBody>
          <a:bodyPr wrap="square" rtlCol="0" anchor="ctr"/>
          <a:lstStyle/>
          <a:p>
            <a:pPr marL="0" indent="0">
              <a:buNone/>
            </a:pPr>
            <a:r>
              <a:rPr lang="en-US" sz="1900" b="1" dirty="0">
                <a:solidFill>
                  <a:srgbClr val="1455D9"/>
                </a:solidFill>
              </a:rPr>
              <a:t>01</a:t>
            </a:r>
            <a:endParaRPr lang="en-US" sz="1900" dirty="0"/>
          </a:p>
        </p:txBody>
      </p:sp>
      <p:sp>
        <p:nvSpPr>
          <p:cNvPr id="7" name="Text 5"/>
          <p:cNvSpPr/>
          <p:nvPr/>
        </p:nvSpPr>
        <p:spPr>
          <a:xfrm>
            <a:off x="822960" y="2487168"/>
            <a:ext cx="2743200" cy="320040"/>
          </a:xfrm>
          <a:prstGeom prst="rect">
            <a:avLst/>
          </a:prstGeom>
          <a:noFill/>
          <a:ln/>
        </p:spPr>
        <p:txBody>
          <a:bodyPr wrap="square" rtlCol="0" anchor="ctr"/>
          <a:lstStyle/>
          <a:p>
            <a:pPr marL="0" indent="0">
              <a:buNone/>
            </a:pPr>
            <a:r>
              <a:rPr lang="en-US" sz="2100" b="1" dirty="0">
                <a:solidFill>
                  <a:srgbClr val="151515"/>
                </a:solidFill>
              </a:rPr>
              <a:t>候補地域 A</a:t>
            </a:r>
            <a:endParaRPr lang="en-US" sz="2100" dirty="0"/>
          </a:p>
        </p:txBody>
      </p:sp>
      <p:sp>
        <p:nvSpPr>
          <p:cNvPr id="8" name="Text 6"/>
          <p:cNvSpPr/>
          <p:nvPr/>
        </p:nvSpPr>
        <p:spPr>
          <a:xfrm>
            <a:off x="822960" y="2926080"/>
            <a:ext cx="1371600" cy="228600"/>
          </a:xfrm>
          <a:prstGeom prst="rect">
            <a:avLst/>
          </a:prstGeom>
          <a:noFill/>
          <a:ln/>
        </p:spPr>
        <p:txBody>
          <a:bodyPr wrap="square" rtlCol="0" anchor="ctr"/>
          <a:lstStyle/>
          <a:p>
            <a:pPr marL="0" indent="0">
              <a:buNone/>
            </a:pPr>
            <a:r>
              <a:rPr lang="en-US" sz="1000" b="1" kern="0" spc="110" dirty="0">
                <a:solidFill>
                  <a:srgbClr val="1455D9"/>
                </a:solidFill>
              </a:rPr>
              <a:t>PRIORITY</a:t>
            </a:r>
            <a:endParaRPr lang="en-US" sz="1000" dirty="0"/>
          </a:p>
        </p:txBody>
      </p:sp>
      <p:sp>
        <p:nvSpPr>
          <p:cNvPr id="9" name="Text 7"/>
          <p:cNvSpPr/>
          <p:nvPr/>
        </p:nvSpPr>
        <p:spPr>
          <a:xfrm>
            <a:off x="822960" y="3429000"/>
            <a:ext cx="1005840" cy="182880"/>
          </a:xfrm>
          <a:prstGeom prst="rect">
            <a:avLst/>
          </a:prstGeom>
          <a:noFill/>
          <a:ln/>
        </p:spPr>
        <p:txBody>
          <a:bodyPr wrap="square" rtlCol="0" anchor="ctr"/>
          <a:lstStyle/>
          <a:p>
            <a:pPr marL="0" indent="0">
              <a:buNone/>
            </a:pPr>
            <a:r>
              <a:rPr lang="en-US" sz="800" b="1" dirty="0">
                <a:solidFill>
                  <a:srgbClr val="656565"/>
                </a:solidFill>
              </a:rPr>
              <a:t>OPPORTUNITY</a:t>
            </a:r>
            <a:endParaRPr lang="en-US" sz="800" dirty="0"/>
          </a:p>
        </p:txBody>
      </p:sp>
      <p:sp>
        <p:nvSpPr>
          <p:cNvPr id="10" name="Text 8"/>
          <p:cNvSpPr/>
          <p:nvPr/>
        </p:nvSpPr>
        <p:spPr>
          <a:xfrm>
            <a:off x="1828800" y="3364992"/>
            <a:ext cx="1783080" cy="292608"/>
          </a:xfrm>
          <a:prstGeom prst="rect">
            <a:avLst/>
          </a:prstGeom>
          <a:noFill/>
          <a:ln/>
        </p:spPr>
        <p:txBody>
          <a:bodyPr wrap="square" rtlCol="0" anchor="ctr"/>
          <a:lstStyle/>
          <a:p>
            <a:pPr marL="0" indent="0">
              <a:buNone/>
            </a:pPr>
            <a:r>
              <a:rPr lang="en-US" sz="1100" b="1" dirty="0">
                <a:solidFill>
                  <a:srgbClr val="151515"/>
                </a:solidFill>
              </a:rPr>
              <a:t>需要成長</a:t>
            </a:r>
            <a:endParaRPr lang="en-US" sz="1100" dirty="0"/>
          </a:p>
        </p:txBody>
      </p:sp>
      <p:sp>
        <p:nvSpPr>
          <p:cNvPr id="11" name="Text 9"/>
          <p:cNvSpPr/>
          <p:nvPr/>
        </p:nvSpPr>
        <p:spPr>
          <a:xfrm>
            <a:off x="822960" y="3995928"/>
            <a:ext cx="1005840" cy="182880"/>
          </a:xfrm>
          <a:prstGeom prst="rect">
            <a:avLst/>
          </a:prstGeom>
          <a:noFill/>
          <a:ln/>
        </p:spPr>
        <p:txBody>
          <a:bodyPr wrap="square" rtlCol="0" anchor="ctr"/>
          <a:lstStyle/>
          <a:p>
            <a:pPr marL="0" indent="0">
              <a:buNone/>
            </a:pPr>
            <a:r>
              <a:rPr lang="en-US" sz="800" b="1" dirty="0">
                <a:solidFill>
                  <a:srgbClr val="656565"/>
                </a:solidFill>
              </a:rPr>
              <a:t>RISK</a:t>
            </a:r>
            <a:endParaRPr lang="en-US" sz="800" dirty="0"/>
          </a:p>
        </p:txBody>
      </p:sp>
      <p:sp>
        <p:nvSpPr>
          <p:cNvPr id="12" name="Text 10"/>
          <p:cNvSpPr/>
          <p:nvPr/>
        </p:nvSpPr>
        <p:spPr>
          <a:xfrm>
            <a:off x="1828800" y="3931920"/>
            <a:ext cx="1783080" cy="292608"/>
          </a:xfrm>
          <a:prstGeom prst="rect">
            <a:avLst/>
          </a:prstGeom>
          <a:noFill/>
          <a:ln/>
        </p:spPr>
        <p:txBody>
          <a:bodyPr wrap="square" rtlCol="0" anchor="ctr"/>
          <a:lstStyle/>
          <a:p>
            <a:pPr marL="0" indent="0">
              <a:buNone/>
            </a:pPr>
            <a:r>
              <a:rPr lang="en-US" sz="1100" b="1" dirty="0">
                <a:solidFill>
                  <a:srgbClr val="151515"/>
                </a:solidFill>
              </a:rPr>
              <a:t>物流・季節変動</a:t>
            </a:r>
            <a:endParaRPr lang="en-US" sz="1100" dirty="0"/>
          </a:p>
        </p:txBody>
      </p:sp>
      <p:sp>
        <p:nvSpPr>
          <p:cNvPr id="13" name="Text 11"/>
          <p:cNvSpPr/>
          <p:nvPr/>
        </p:nvSpPr>
        <p:spPr>
          <a:xfrm>
            <a:off x="822960" y="4562856"/>
            <a:ext cx="1005840" cy="182880"/>
          </a:xfrm>
          <a:prstGeom prst="rect">
            <a:avLst/>
          </a:prstGeom>
          <a:noFill/>
          <a:ln/>
        </p:spPr>
        <p:txBody>
          <a:bodyPr wrap="square" rtlCol="0" anchor="ctr"/>
          <a:lstStyle/>
          <a:p>
            <a:pPr marL="0" indent="0">
              <a:buNone/>
            </a:pPr>
            <a:r>
              <a:rPr lang="en-US" sz="800" b="1" dirty="0">
                <a:solidFill>
                  <a:srgbClr val="656565"/>
                </a:solidFill>
              </a:rPr>
              <a:t>NEXT GATE</a:t>
            </a:r>
            <a:endParaRPr lang="en-US" sz="800" dirty="0"/>
          </a:p>
        </p:txBody>
      </p:sp>
      <p:sp>
        <p:nvSpPr>
          <p:cNvPr id="14" name="Text 12"/>
          <p:cNvSpPr/>
          <p:nvPr/>
        </p:nvSpPr>
        <p:spPr>
          <a:xfrm>
            <a:off x="1828800" y="4498848"/>
            <a:ext cx="1783080" cy="292608"/>
          </a:xfrm>
          <a:prstGeom prst="rect">
            <a:avLst/>
          </a:prstGeom>
          <a:noFill/>
          <a:ln/>
        </p:spPr>
        <p:txBody>
          <a:bodyPr wrap="square" rtlCol="0" anchor="ctr"/>
          <a:lstStyle/>
          <a:p>
            <a:pPr marL="0" indent="0">
              <a:buNone/>
            </a:pPr>
            <a:r>
              <a:rPr lang="en-US" sz="1100" b="1" dirty="0">
                <a:solidFill>
                  <a:srgbClr val="151515"/>
                </a:solidFill>
              </a:rPr>
              <a:t>90日検証</a:t>
            </a:r>
            <a:endParaRPr lang="en-US" sz="1100" dirty="0"/>
          </a:p>
        </p:txBody>
      </p:sp>
      <p:sp>
        <p:nvSpPr>
          <p:cNvPr id="15" name="Shape 13"/>
          <p:cNvSpPr/>
          <p:nvPr/>
        </p:nvSpPr>
        <p:spPr>
          <a:xfrm>
            <a:off x="4297680" y="1828800"/>
            <a:ext cx="3337560" cy="3429000"/>
          </a:xfrm>
          <a:prstGeom prst="rect">
            <a:avLst/>
          </a:prstGeom>
          <a:solidFill>
            <a:srgbClr val="FFFFFF"/>
          </a:solidFill>
          <a:ln w="12700">
            <a:solidFill>
              <a:srgbClr val="CFCBC3"/>
            </a:solidFill>
            <a:prstDash val="solid"/>
          </a:ln>
        </p:spPr>
        <p:txBody>
          <a:bodyPr/>
          <a:lstStyle/>
          <a:p>
            <a:endParaRPr lang="ja-JP" altLang="en-US"/>
          </a:p>
        </p:txBody>
      </p:sp>
      <p:sp>
        <p:nvSpPr>
          <p:cNvPr id="16" name="Text 14"/>
          <p:cNvSpPr/>
          <p:nvPr/>
        </p:nvSpPr>
        <p:spPr>
          <a:xfrm>
            <a:off x="4526280" y="2029968"/>
            <a:ext cx="457200" cy="320040"/>
          </a:xfrm>
          <a:prstGeom prst="rect">
            <a:avLst/>
          </a:prstGeom>
          <a:noFill/>
          <a:ln/>
        </p:spPr>
        <p:txBody>
          <a:bodyPr wrap="square" rtlCol="0" anchor="ctr"/>
          <a:lstStyle/>
          <a:p>
            <a:pPr marL="0" indent="0">
              <a:buNone/>
            </a:pPr>
            <a:r>
              <a:rPr lang="en-US" sz="1900" b="1" dirty="0">
                <a:solidFill>
                  <a:srgbClr val="1455D9"/>
                </a:solidFill>
              </a:rPr>
              <a:t>02</a:t>
            </a:r>
            <a:endParaRPr lang="en-US" sz="1900" dirty="0"/>
          </a:p>
        </p:txBody>
      </p:sp>
      <p:sp>
        <p:nvSpPr>
          <p:cNvPr id="17" name="Text 15"/>
          <p:cNvSpPr/>
          <p:nvPr/>
        </p:nvSpPr>
        <p:spPr>
          <a:xfrm>
            <a:off x="4526280" y="2487168"/>
            <a:ext cx="2743200" cy="320040"/>
          </a:xfrm>
          <a:prstGeom prst="rect">
            <a:avLst/>
          </a:prstGeom>
          <a:noFill/>
          <a:ln/>
        </p:spPr>
        <p:txBody>
          <a:bodyPr wrap="square" rtlCol="0" anchor="ctr"/>
          <a:lstStyle/>
          <a:p>
            <a:pPr marL="0" indent="0">
              <a:buNone/>
            </a:pPr>
            <a:r>
              <a:rPr lang="en-US" sz="2100" b="1" dirty="0">
                <a:solidFill>
                  <a:srgbClr val="151515"/>
                </a:solidFill>
              </a:rPr>
              <a:t>候補地域 B</a:t>
            </a:r>
            <a:endParaRPr lang="en-US" sz="2100" dirty="0"/>
          </a:p>
        </p:txBody>
      </p:sp>
      <p:sp>
        <p:nvSpPr>
          <p:cNvPr id="18" name="Text 16"/>
          <p:cNvSpPr/>
          <p:nvPr/>
        </p:nvSpPr>
        <p:spPr>
          <a:xfrm>
            <a:off x="4526280" y="2926080"/>
            <a:ext cx="1371600" cy="228600"/>
          </a:xfrm>
          <a:prstGeom prst="rect">
            <a:avLst/>
          </a:prstGeom>
          <a:noFill/>
          <a:ln/>
        </p:spPr>
        <p:txBody>
          <a:bodyPr wrap="square" rtlCol="0" anchor="ctr"/>
          <a:lstStyle/>
          <a:p>
            <a:pPr marL="0" indent="0">
              <a:buNone/>
            </a:pPr>
            <a:r>
              <a:rPr lang="en-US" sz="1000" b="1" kern="0" spc="110" dirty="0">
                <a:solidFill>
                  <a:srgbClr val="656565"/>
                </a:solidFill>
              </a:rPr>
              <a:t>VALIDATE</a:t>
            </a:r>
            <a:endParaRPr lang="en-US" sz="1000" dirty="0"/>
          </a:p>
        </p:txBody>
      </p:sp>
      <p:sp>
        <p:nvSpPr>
          <p:cNvPr id="19" name="Text 17"/>
          <p:cNvSpPr/>
          <p:nvPr/>
        </p:nvSpPr>
        <p:spPr>
          <a:xfrm>
            <a:off x="4526280" y="3429000"/>
            <a:ext cx="1005840" cy="182880"/>
          </a:xfrm>
          <a:prstGeom prst="rect">
            <a:avLst/>
          </a:prstGeom>
          <a:noFill/>
          <a:ln/>
        </p:spPr>
        <p:txBody>
          <a:bodyPr wrap="square" rtlCol="0" anchor="ctr"/>
          <a:lstStyle/>
          <a:p>
            <a:pPr marL="0" indent="0">
              <a:buNone/>
            </a:pPr>
            <a:r>
              <a:rPr lang="en-US" sz="800" b="1" dirty="0">
                <a:solidFill>
                  <a:srgbClr val="656565"/>
                </a:solidFill>
              </a:rPr>
              <a:t>OPPORTUNITY</a:t>
            </a:r>
            <a:endParaRPr lang="en-US" sz="800" dirty="0"/>
          </a:p>
        </p:txBody>
      </p:sp>
      <p:sp>
        <p:nvSpPr>
          <p:cNvPr id="20" name="Text 18"/>
          <p:cNvSpPr/>
          <p:nvPr/>
        </p:nvSpPr>
        <p:spPr>
          <a:xfrm>
            <a:off x="5532120" y="3364992"/>
            <a:ext cx="1783080" cy="292608"/>
          </a:xfrm>
          <a:prstGeom prst="rect">
            <a:avLst/>
          </a:prstGeom>
          <a:noFill/>
          <a:ln/>
        </p:spPr>
        <p:txBody>
          <a:bodyPr wrap="square" rtlCol="0" anchor="ctr"/>
          <a:lstStyle/>
          <a:p>
            <a:pPr marL="0" indent="0">
              <a:buNone/>
            </a:pPr>
            <a:r>
              <a:rPr lang="en-US" sz="1100" b="1" dirty="0">
                <a:solidFill>
                  <a:srgbClr val="151515"/>
                </a:solidFill>
              </a:rPr>
              <a:t>既存商圏の補完</a:t>
            </a:r>
            <a:endParaRPr lang="en-US" sz="1100" dirty="0"/>
          </a:p>
        </p:txBody>
      </p:sp>
      <p:sp>
        <p:nvSpPr>
          <p:cNvPr id="21" name="Text 19"/>
          <p:cNvSpPr/>
          <p:nvPr/>
        </p:nvSpPr>
        <p:spPr>
          <a:xfrm>
            <a:off x="4526280" y="3995928"/>
            <a:ext cx="1005840" cy="182880"/>
          </a:xfrm>
          <a:prstGeom prst="rect">
            <a:avLst/>
          </a:prstGeom>
          <a:noFill/>
          <a:ln/>
        </p:spPr>
        <p:txBody>
          <a:bodyPr wrap="square" rtlCol="0" anchor="ctr"/>
          <a:lstStyle/>
          <a:p>
            <a:pPr marL="0" indent="0">
              <a:buNone/>
            </a:pPr>
            <a:r>
              <a:rPr lang="en-US" sz="800" b="1" dirty="0">
                <a:solidFill>
                  <a:srgbClr val="656565"/>
                </a:solidFill>
              </a:rPr>
              <a:t>RISK</a:t>
            </a:r>
            <a:endParaRPr lang="en-US" sz="800" dirty="0"/>
          </a:p>
        </p:txBody>
      </p:sp>
      <p:sp>
        <p:nvSpPr>
          <p:cNvPr id="22" name="Text 20"/>
          <p:cNvSpPr/>
          <p:nvPr/>
        </p:nvSpPr>
        <p:spPr>
          <a:xfrm>
            <a:off x="5532120" y="3931920"/>
            <a:ext cx="1783080" cy="292608"/>
          </a:xfrm>
          <a:prstGeom prst="rect">
            <a:avLst/>
          </a:prstGeom>
          <a:noFill/>
          <a:ln/>
        </p:spPr>
        <p:txBody>
          <a:bodyPr wrap="square" rtlCol="0" anchor="ctr"/>
          <a:lstStyle/>
          <a:p>
            <a:pPr marL="0" indent="0">
              <a:buNone/>
            </a:pPr>
            <a:r>
              <a:rPr lang="en-US" sz="1100" b="1" dirty="0">
                <a:solidFill>
                  <a:srgbClr val="151515"/>
                </a:solidFill>
              </a:rPr>
              <a:t>既存店との競合</a:t>
            </a:r>
            <a:endParaRPr lang="en-US" sz="1100" dirty="0"/>
          </a:p>
        </p:txBody>
      </p:sp>
      <p:sp>
        <p:nvSpPr>
          <p:cNvPr id="23" name="Text 21"/>
          <p:cNvSpPr/>
          <p:nvPr/>
        </p:nvSpPr>
        <p:spPr>
          <a:xfrm>
            <a:off x="4526280" y="4562856"/>
            <a:ext cx="1005840" cy="182880"/>
          </a:xfrm>
          <a:prstGeom prst="rect">
            <a:avLst/>
          </a:prstGeom>
          <a:noFill/>
          <a:ln/>
        </p:spPr>
        <p:txBody>
          <a:bodyPr wrap="square" rtlCol="0" anchor="ctr"/>
          <a:lstStyle/>
          <a:p>
            <a:pPr marL="0" indent="0">
              <a:buNone/>
            </a:pPr>
            <a:r>
              <a:rPr lang="en-US" sz="800" b="1" dirty="0">
                <a:solidFill>
                  <a:srgbClr val="656565"/>
                </a:solidFill>
              </a:rPr>
              <a:t>NEXT GATE</a:t>
            </a:r>
            <a:endParaRPr lang="en-US" sz="800" dirty="0"/>
          </a:p>
        </p:txBody>
      </p:sp>
      <p:sp>
        <p:nvSpPr>
          <p:cNvPr id="24" name="Text 22"/>
          <p:cNvSpPr/>
          <p:nvPr/>
        </p:nvSpPr>
        <p:spPr>
          <a:xfrm>
            <a:off x="5532120" y="4498848"/>
            <a:ext cx="1783080" cy="292608"/>
          </a:xfrm>
          <a:prstGeom prst="rect">
            <a:avLst/>
          </a:prstGeom>
          <a:noFill/>
          <a:ln/>
        </p:spPr>
        <p:txBody>
          <a:bodyPr wrap="square" rtlCol="0" anchor="ctr"/>
          <a:lstStyle/>
          <a:p>
            <a:pPr marL="0" indent="0">
              <a:buNone/>
            </a:pPr>
            <a:r>
              <a:rPr lang="en-US" sz="1100" b="1" dirty="0">
                <a:solidFill>
                  <a:srgbClr val="151515"/>
                </a:solidFill>
              </a:rPr>
              <a:t>追加データ</a:t>
            </a:r>
            <a:endParaRPr lang="en-US" sz="1100" dirty="0"/>
          </a:p>
        </p:txBody>
      </p:sp>
      <p:sp>
        <p:nvSpPr>
          <p:cNvPr id="25" name="Shape 23"/>
          <p:cNvSpPr/>
          <p:nvPr/>
        </p:nvSpPr>
        <p:spPr>
          <a:xfrm>
            <a:off x="8001000" y="1828800"/>
            <a:ext cx="3337560" cy="3429000"/>
          </a:xfrm>
          <a:prstGeom prst="rect">
            <a:avLst/>
          </a:prstGeom>
          <a:solidFill>
            <a:srgbClr val="FFFFFF"/>
          </a:solidFill>
          <a:ln w="12700">
            <a:solidFill>
              <a:srgbClr val="CFCBC3"/>
            </a:solidFill>
            <a:prstDash val="solid"/>
          </a:ln>
        </p:spPr>
        <p:txBody>
          <a:bodyPr/>
          <a:lstStyle/>
          <a:p>
            <a:endParaRPr lang="ja-JP" altLang="en-US"/>
          </a:p>
        </p:txBody>
      </p:sp>
      <p:sp>
        <p:nvSpPr>
          <p:cNvPr id="26" name="Text 24"/>
          <p:cNvSpPr/>
          <p:nvPr/>
        </p:nvSpPr>
        <p:spPr>
          <a:xfrm>
            <a:off x="8229600" y="2029968"/>
            <a:ext cx="457200" cy="320040"/>
          </a:xfrm>
          <a:prstGeom prst="rect">
            <a:avLst/>
          </a:prstGeom>
          <a:noFill/>
          <a:ln/>
        </p:spPr>
        <p:txBody>
          <a:bodyPr wrap="square" rtlCol="0" anchor="ctr"/>
          <a:lstStyle/>
          <a:p>
            <a:pPr marL="0" indent="0">
              <a:buNone/>
            </a:pPr>
            <a:r>
              <a:rPr lang="en-US" sz="1900" b="1" dirty="0">
                <a:solidFill>
                  <a:srgbClr val="1455D9"/>
                </a:solidFill>
              </a:rPr>
              <a:t>03</a:t>
            </a:r>
            <a:endParaRPr lang="en-US" sz="1900" dirty="0"/>
          </a:p>
        </p:txBody>
      </p:sp>
      <p:sp>
        <p:nvSpPr>
          <p:cNvPr id="27" name="Text 25"/>
          <p:cNvSpPr/>
          <p:nvPr/>
        </p:nvSpPr>
        <p:spPr>
          <a:xfrm>
            <a:off x="8229600" y="2487168"/>
            <a:ext cx="2743200" cy="320040"/>
          </a:xfrm>
          <a:prstGeom prst="rect">
            <a:avLst/>
          </a:prstGeom>
          <a:noFill/>
          <a:ln/>
        </p:spPr>
        <p:txBody>
          <a:bodyPr wrap="square" rtlCol="0" anchor="ctr"/>
          <a:lstStyle/>
          <a:p>
            <a:pPr marL="0" indent="0">
              <a:buNone/>
            </a:pPr>
            <a:r>
              <a:rPr lang="en-US" sz="2100" b="1" dirty="0">
                <a:solidFill>
                  <a:srgbClr val="151515"/>
                </a:solidFill>
              </a:rPr>
              <a:t>候補地域 C</a:t>
            </a:r>
            <a:endParaRPr lang="en-US" sz="2100" dirty="0"/>
          </a:p>
        </p:txBody>
      </p:sp>
      <p:sp>
        <p:nvSpPr>
          <p:cNvPr id="28" name="Text 26"/>
          <p:cNvSpPr/>
          <p:nvPr/>
        </p:nvSpPr>
        <p:spPr>
          <a:xfrm>
            <a:off x="8229600" y="2926080"/>
            <a:ext cx="1371600" cy="228600"/>
          </a:xfrm>
          <a:prstGeom prst="rect">
            <a:avLst/>
          </a:prstGeom>
          <a:noFill/>
          <a:ln/>
        </p:spPr>
        <p:txBody>
          <a:bodyPr wrap="square" rtlCol="0" anchor="ctr"/>
          <a:lstStyle/>
          <a:p>
            <a:pPr marL="0" indent="0">
              <a:buNone/>
            </a:pPr>
            <a:r>
              <a:rPr lang="en-US" sz="1000" b="1" kern="0" spc="110" dirty="0">
                <a:solidFill>
                  <a:srgbClr val="656565"/>
                </a:solidFill>
              </a:rPr>
              <a:t>VALIDATE</a:t>
            </a:r>
            <a:endParaRPr lang="en-US" sz="1000" dirty="0"/>
          </a:p>
        </p:txBody>
      </p:sp>
      <p:sp>
        <p:nvSpPr>
          <p:cNvPr id="29" name="Text 27"/>
          <p:cNvSpPr/>
          <p:nvPr/>
        </p:nvSpPr>
        <p:spPr>
          <a:xfrm>
            <a:off x="8229600" y="3429000"/>
            <a:ext cx="1005840" cy="182880"/>
          </a:xfrm>
          <a:prstGeom prst="rect">
            <a:avLst/>
          </a:prstGeom>
          <a:noFill/>
          <a:ln/>
        </p:spPr>
        <p:txBody>
          <a:bodyPr wrap="square" rtlCol="0" anchor="ctr"/>
          <a:lstStyle/>
          <a:p>
            <a:pPr marL="0" indent="0">
              <a:buNone/>
            </a:pPr>
            <a:r>
              <a:rPr lang="en-US" sz="800" b="1" dirty="0">
                <a:solidFill>
                  <a:srgbClr val="656565"/>
                </a:solidFill>
              </a:rPr>
              <a:t>OPPORTUNITY</a:t>
            </a:r>
            <a:endParaRPr lang="en-US" sz="800" dirty="0"/>
          </a:p>
        </p:txBody>
      </p:sp>
      <p:sp>
        <p:nvSpPr>
          <p:cNvPr id="30" name="Text 28"/>
          <p:cNvSpPr/>
          <p:nvPr/>
        </p:nvSpPr>
        <p:spPr>
          <a:xfrm>
            <a:off x="9235440" y="3364992"/>
            <a:ext cx="1783080" cy="292608"/>
          </a:xfrm>
          <a:prstGeom prst="rect">
            <a:avLst/>
          </a:prstGeom>
          <a:noFill/>
          <a:ln/>
        </p:spPr>
        <p:txBody>
          <a:bodyPr wrap="square" rtlCol="0" anchor="ctr"/>
          <a:lstStyle/>
          <a:p>
            <a:pPr marL="0" indent="0">
              <a:buNone/>
            </a:pPr>
            <a:r>
              <a:rPr lang="en-US" sz="1100" b="1" dirty="0">
                <a:solidFill>
                  <a:srgbClr val="151515"/>
                </a:solidFill>
              </a:rPr>
              <a:t>観光需要</a:t>
            </a:r>
            <a:endParaRPr lang="en-US" sz="1100" dirty="0"/>
          </a:p>
        </p:txBody>
      </p:sp>
      <p:sp>
        <p:nvSpPr>
          <p:cNvPr id="31" name="Text 29"/>
          <p:cNvSpPr/>
          <p:nvPr/>
        </p:nvSpPr>
        <p:spPr>
          <a:xfrm>
            <a:off x="8229600" y="3995928"/>
            <a:ext cx="1005840" cy="182880"/>
          </a:xfrm>
          <a:prstGeom prst="rect">
            <a:avLst/>
          </a:prstGeom>
          <a:noFill/>
          <a:ln/>
        </p:spPr>
        <p:txBody>
          <a:bodyPr wrap="square" rtlCol="0" anchor="ctr"/>
          <a:lstStyle/>
          <a:p>
            <a:pPr marL="0" indent="0">
              <a:buNone/>
            </a:pPr>
            <a:r>
              <a:rPr lang="en-US" sz="800" b="1" dirty="0">
                <a:solidFill>
                  <a:srgbClr val="656565"/>
                </a:solidFill>
              </a:rPr>
              <a:t>RISK</a:t>
            </a:r>
            <a:endParaRPr lang="en-US" sz="800" dirty="0"/>
          </a:p>
        </p:txBody>
      </p:sp>
      <p:sp>
        <p:nvSpPr>
          <p:cNvPr id="32" name="Text 30"/>
          <p:cNvSpPr/>
          <p:nvPr/>
        </p:nvSpPr>
        <p:spPr>
          <a:xfrm>
            <a:off x="9235440" y="3931920"/>
            <a:ext cx="1783080" cy="292608"/>
          </a:xfrm>
          <a:prstGeom prst="rect">
            <a:avLst/>
          </a:prstGeom>
          <a:noFill/>
          <a:ln/>
        </p:spPr>
        <p:txBody>
          <a:bodyPr wrap="square" rtlCol="0" anchor="ctr"/>
          <a:lstStyle/>
          <a:p>
            <a:pPr marL="0" indent="0">
              <a:buNone/>
            </a:pPr>
            <a:r>
              <a:rPr lang="en-US" sz="1100" b="1" dirty="0">
                <a:solidFill>
                  <a:srgbClr val="151515"/>
                </a:solidFill>
              </a:rPr>
              <a:t>賃料・競合密度</a:t>
            </a:r>
            <a:endParaRPr lang="en-US" sz="1100" dirty="0"/>
          </a:p>
        </p:txBody>
      </p:sp>
      <p:sp>
        <p:nvSpPr>
          <p:cNvPr id="33" name="Text 31"/>
          <p:cNvSpPr/>
          <p:nvPr/>
        </p:nvSpPr>
        <p:spPr>
          <a:xfrm>
            <a:off x="8229600" y="4562856"/>
            <a:ext cx="1005840" cy="182880"/>
          </a:xfrm>
          <a:prstGeom prst="rect">
            <a:avLst/>
          </a:prstGeom>
          <a:noFill/>
          <a:ln/>
        </p:spPr>
        <p:txBody>
          <a:bodyPr wrap="square" rtlCol="0" anchor="ctr"/>
          <a:lstStyle/>
          <a:p>
            <a:pPr marL="0" indent="0">
              <a:buNone/>
            </a:pPr>
            <a:r>
              <a:rPr lang="en-US" sz="800" b="1" dirty="0">
                <a:solidFill>
                  <a:srgbClr val="656565"/>
                </a:solidFill>
              </a:rPr>
              <a:t>NEXT GATE</a:t>
            </a:r>
            <a:endParaRPr lang="en-US" sz="800" dirty="0"/>
          </a:p>
        </p:txBody>
      </p:sp>
      <p:sp>
        <p:nvSpPr>
          <p:cNvPr id="34" name="Text 32"/>
          <p:cNvSpPr/>
          <p:nvPr/>
        </p:nvSpPr>
        <p:spPr>
          <a:xfrm>
            <a:off x="9235440" y="4498848"/>
            <a:ext cx="1783080" cy="292608"/>
          </a:xfrm>
          <a:prstGeom prst="rect">
            <a:avLst/>
          </a:prstGeom>
          <a:noFill/>
          <a:ln/>
        </p:spPr>
        <p:txBody>
          <a:bodyPr wrap="square" rtlCol="0" anchor="ctr"/>
          <a:lstStyle/>
          <a:p>
            <a:pPr marL="0" indent="0">
              <a:buNone/>
            </a:pPr>
            <a:r>
              <a:rPr lang="en-US" sz="1100" b="1" dirty="0">
                <a:solidFill>
                  <a:srgbClr val="151515"/>
                </a:solidFill>
              </a:rPr>
              <a:t>追加データ</a:t>
            </a:r>
            <a:endParaRPr lang="en-US" sz="1100" dirty="0"/>
          </a:p>
        </p:txBody>
      </p:sp>
      <p:sp>
        <p:nvSpPr>
          <p:cNvPr id="3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02920" y="320040"/>
            <a:ext cx="2926080" cy="228600"/>
          </a:xfrm>
          <a:prstGeom prst="rect">
            <a:avLst/>
          </a:prstGeom>
          <a:noFill/>
          <a:ln/>
        </p:spPr>
        <p:txBody>
          <a:bodyPr wrap="square" rtlCol="0" anchor="ctr"/>
          <a:lstStyle/>
          <a:p>
            <a:pPr marL="0" indent="0">
              <a:buNone/>
            </a:pPr>
            <a:r>
              <a:rPr lang="en-US" sz="1000" b="1" kern="0" spc="160" dirty="0">
                <a:solidFill>
                  <a:srgbClr val="1455D9"/>
                </a:solidFill>
              </a:rPr>
              <a:t>06 / 90-DAY ACTION</a:t>
            </a:r>
            <a:endParaRPr lang="en-US" sz="1000" dirty="0"/>
          </a:p>
        </p:txBody>
      </p:sp>
      <p:sp>
        <p:nvSpPr>
          <p:cNvPr id="3" name="Text 1"/>
          <p:cNvSpPr/>
          <p:nvPr/>
        </p:nvSpPr>
        <p:spPr>
          <a:xfrm>
            <a:off x="502920" y="658368"/>
            <a:ext cx="11064240" cy="658368"/>
          </a:xfrm>
          <a:prstGeom prst="rect">
            <a:avLst/>
          </a:prstGeom>
          <a:noFill/>
          <a:ln/>
        </p:spPr>
        <p:txBody>
          <a:bodyPr wrap="square" lIns="0" tIns="0" rIns="0" bIns="0" rtlCol="0" anchor="ctr">
            <a:normAutofit/>
          </a:bodyPr>
          <a:lstStyle/>
          <a:p>
            <a:pPr marL="0" indent="0">
              <a:buNone/>
            </a:pPr>
            <a:r>
              <a:rPr lang="en-US" sz="2700" b="1" dirty="0">
                <a:solidFill>
                  <a:srgbClr val="151515"/>
                </a:solidFill>
              </a:rPr>
              <a:t>調査から投資判断まで、90日で進める。</a:t>
            </a:r>
            <a:endParaRPr lang="en-US" sz="2700" dirty="0"/>
          </a:p>
        </p:txBody>
      </p:sp>
      <p:sp>
        <p:nvSpPr>
          <p:cNvPr id="4" name="Text 2"/>
          <p:cNvSpPr/>
          <p:nvPr/>
        </p:nvSpPr>
        <p:spPr>
          <a:xfrm>
            <a:off x="502920" y="1353312"/>
            <a:ext cx="10789920" cy="320040"/>
          </a:xfrm>
          <a:prstGeom prst="rect">
            <a:avLst/>
          </a:prstGeom>
          <a:noFill/>
          <a:ln/>
        </p:spPr>
        <p:txBody>
          <a:bodyPr wrap="square" lIns="0" tIns="0" rIns="0" bIns="0" rtlCol="0" anchor="ctr"/>
          <a:lstStyle/>
          <a:p>
            <a:pPr marL="0" indent="0">
              <a:buNone/>
            </a:pPr>
            <a:r>
              <a:rPr lang="en-US" sz="1150" dirty="0">
                <a:solidFill>
                  <a:srgbClr val="656565"/>
                </a:solidFill>
              </a:rPr>
              <a:t>役員会後の実行責任を明確にするロードマップ例です。</a:t>
            </a:r>
            <a:endParaRPr lang="en-US" sz="1150" dirty="0"/>
          </a:p>
        </p:txBody>
      </p:sp>
      <p:sp>
        <p:nvSpPr>
          <p:cNvPr id="5" name="Text 3"/>
          <p:cNvSpPr/>
          <p:nvPr/>
        </p:nvSpPr>
        <p:spPr>
          <a:xfrm>
            <a:off x="685800" y="1828800"/>
            <a:ext cx="1188720" cy="320040"/>
          </a:xfrm>
          <a:prstGeom prst="rect">
            <a:avLst/>
          </a:prstGeom>
          <a:noFill/>
          <a:ln/>
        </p:spPr>
        <p:txBody>
          <a:bodyPr wrap="square" rtlCol="0" anchor="ctr"/>
          <a:lstStyle/>
          <a:p>
            <a:pPr marL="0" indent="0">
              <a:buNone/>
            </a:pPr>
            <a:r>
              <a:rPr lang="en-US" sz="2300" b="1" dirty="0">
                <a:solidFill>
                  <a:srgbClr val="1455D9"/>
                </a:solidFill>
              </a:rPr>
              <a:t>00–30</a:t>
            </a:r>
            <a:endParaRPr lang="en-US" sz="2300" dirty="0"/>
          </a:p>
        </p:txBody>
      </p:sp>
      <p:sp>
        <p:nvSpPr>
          <p:cNvPr id="6" name="Text 4"/>
          <p:cNvSpPr/>
          <p:nvPr/>
        </p:nvSpPr>
        <p:spPr>
          <a:xfrm>
            <a:off x="685800" y="2395728"/>
            <a:ext cx="2011680" cy="274320"/>
          </a:xfrm>
          <a:prstGeom prst="rect">
            <a:avLst/>
          </a:prstGeom>
          <a:noFill/>
          <a:ln/>
        </p:spPr>
        <p:txBody>
          <a:bodyPr wrap="square" rtlCol="0" anchor="ctr"/>
          <a:lstStyle/>
          <a:p>
            <a:pPr marL="0" indent="0">
              <a:buNone/>
            </a:pPr>
            <a:r>
              <a:rPr lang="en-US" sz="1300" b="1" kern="0" spc="120" dirty="0">
                <a:solidFill>
                  <a:srgbClr val="151515"/>
                </a:solidFill>
              </a:rPr>
              <a:t>DIAGNOSE</a:t>
            </a:r>
            <a:endParaRPr lang="en-US" sz="1300" dirty="0"/>
          </a:p>
        </p:txBody>
      </p:sp>
      <p:sp>
        <p:nvSpPr>
          <p:cNvPr id="7" name="Text 5"/>
          <p:cNvSpPr/>
          <p:nvPr/>
        </p:nvSpPr>
        <p:spPr>
          <a:xfrm>
            <a:off x="685800" y="2944368"/>
            <a:ext cx="2560320" cy="731520"/>
          </a:xfrm>
          <a:prstGeom prst="rect">
            <a:avLst/>
          </a:prstGeom>
          <a:noFill/>
          <a:ln/>
        </p:spPr>
        <p:txBody>
          <a:bodyPr wrap="square" lIns="0" tIns="0" rIns="0" bIns="0" rtlCol="0" anchor="ctr"/>
          <a:lstStyle/>
          <a:p>
            <a:pPr marL="0" indent="0">
              <a:buNone/>
            </a:pPr>
            <a:r>
              <a:rPr lang="en-US" sz="1700" dirty="0">
                <a:solidFill>
                  <a:srgbClr val="151515"/>
                </a:solidFill>
              </a:rPr>
              <a:t>粗利改善仮説</a:t>
            </a:r>
            <a:endParaRPr lang="en-US" sz="1700" dirty="0"/>
          </a:p>
          <a:p>
            <a:pPr marL="0" indent="0">
              <a:buNone/>
            </a:pPr>
            <a:r>
              <a:rPr lang="en-US" sz="1700" dirty="0">
                <a:solidFill>
                  <a:srgbClr val="151515"/>
                </a:solidFill>
              </a:rPr>
              <a:t>商圏データ</a:t>
            </a:r>
            <a:endParaRPr lang="en-US" sz="1700" dirty="0"/>
          </a:p>
        </p:txBody>
      </p:sp>
      <p:sp>
        <p:nvSpPr>
          <p:cNvPr id="8" name="Shape 6"/>
          <p:cNvSpPr/>
          <p:nvPr/>
        </p:nvSpPr>
        <p:spPr>
          <a:xfrm>
            <a:off x="3566160" y="2240280"/>
            <a:ext cx="502920" cy="1143000"/>
          </a:xfrm>
          <a:prstGeom prst="chevron">
            <a:avLst/>
          </a:prstGeom>
          <a:solidFill>
            <a:srgbClr val="D9DDE7"/>
          </a:solidFill>
          <a:ln w="12700">
            <a:solidFill>
              <a:srgbClr val="333333">
                <a:alpha val="0"/>
              </a:srgbClr>
            </a:solidFill>
            <a:prstDash val="solid"/>
          </a:ln>
        </p:spPr>
        <p:txBody>
          <a:bodyPr/>
          <a:lstStyle/>
          <a:p>
            <a:endParaRPr lang="ja-JP" altLang="en-US"/>
          </a:p>
        </p:txBody>
      </p:sp>
      <p:sp>
        <p:nvSpPr>
          <p:cNvPr id="9" name="Text 7"/>
          <p:cNvSpPr/>
          <p:nvPr/>
        </p:nvSpPr>
        <p:spPr>
          <a:xfrm>
            <a:off x="4480560" y="1828800"/>
            <a:ext cx="1188720" cy="320040"/>
          </a:xfrm>
          <a:prstGeom prst="rect">
            <a:avLst/>
          </a:prstGeom>
          <a:noFill/>
          <a:ln/>
        </p:spPr>
        <p:txBody>
          <a:bodyPr wrap="square" rtlCol="0" anchor="ctr"/>
          <a:lstStyle/>
          <a:p>
            <a:pPr marL="0" indent="0">
              <a:buNone/>
            </a:pPr>
            <a:r>
              <a:rPr lang="en-US" sz="2300" b="1" dirty="0">
                <a:solidFill>
                  <a:srgbClr val="1455D9"/>
                </a:solidFill>
              </a:rPr>
              <a:t>31–60</a:t>
            </a:r>
            <a:endParaRPr lang="en-US" sz="2300" dirty="0"/>
          </a:p>
        </p:txBody>
      </p:sp>
      <p:sp>
        <p:nvSpPr>
          <p:cNvPr id="10" name="Text 8"/>
          <p:cNvSpPr/>
          <p:nvPr/>
        </p:nvSpPr>
        <p:spPr>
          <a:xfrm>
            <a:off x="4480560" y="2395728"/>
            <a:ext cx="2011680" cy="274320"/>
          </a:xfrm>
          <a:prstGeom prst="rect">
            <a:avLst/>
          </a:prstGeom>
          <a:noFill/>
          <a:ln/>
        </p:spPr>
        <p:txBody>
          <a:bodyPr wrap="square" rtlCol="0" anchor="ctr"/>
          <a:lstStyle/>
          <a:p>
            <a:pPr marL="0" indent="0">
              <a:buNone/>
            </a:pPr>
            <a:r>
              <a:rPr lang="en-US" sz="1300" b="1" kern="0" spc="120" dirty="0">
                <a:solidFill>
                  <a:srgbClr val="151515"/>
                </a:solidFill>
              </a:rPr>
              <a:t>VALIDATE</a:t>
            </a:r>
            <a:endParaRPr lang="en-US" sz="1300" dirty="0"/>
          </a:p>
        </p:txBody>
      </p:sp>
      <p:sp>
        <p:nvSpPr>
          <p:cNvPr id="11" name="Text 9"/>
          <p:cNvSpPr/>
          <p:nvPr/>
        </p:nvSpPr>
        <p:spPr>
          <a:xfrm>
            <a:off x="4480560" y="2944368"/>
            <a:ext cx="2560320" cy="731520"/>
          </a:xfrm>
          <a:prstGeom prst="rect">
            <a:avLst/>
          </a:prstGeom>
          <a:noFill/>
          <a:ln/>
        </p:spPr>
        <p:txBody>
          <a:bodyPr wrap="square" lIns="0" tIns="0" rIns="0" bIns="0" rtlCol="0" anchor="ctr"/>
          <a:lstStyle/>
          <a:p>
            <a:pPr marL="0" indent="0">
              <a:buNone/>
            </a:pPr>
            <a:r>
              <a:rPr lang="en-US" sz="1700" dirty="0">
                <a:solidFill>
                  <a:srgbClr val="151515"/>
                </a:solidFill>
              </a:rPr>
              <a:t>価格テスト</a:t>
            </a:r>
            <a:endParaRPr lang="en-US" sz="1700" dirty="0"/>
          </a:p>
          <a:p>
            <a:pPr marL="0" indent="0">
              <a:buNone/>
            </a:pPr>
            <a:r>
              <a:rPr lang="en-US" sz="1700" dirty="0">
                <a:solidFill>
                  <a:srgbClr val="151515"/>
                </a:solidFill>
              </a:rPr>
              <a:t>小規模検証</a:t>
            </a:r>
            <a:endParaRPr lang="en-US" sz="1700" dirty="0"/>
          </a:p>
        </p:txBody>
      </p:sp>
      <p:sp>
        <p:nvSpPr>
          <p:cNvPr id="12" name="Shape 10"/>
          <p:cNvSpPr/>
          <p:nvPr/>
        </p:nvSpPr>
        <p:spPr>
          <a:xfrm>
            <a:off x="7360920" y="2240280"/>
            <a:ext cx="502920" cy="1143000"/>
          </a:xfrm>
          <a:prstGeom prst="chevron">
            <a:avLst/>
          </a:prstGeom>
          <a:solidFill>
            <a:srgbClr val="D9DDE7"/>
          </a:solidFill>
          <a:ln w="12700">
            <a:solidFill>
              <a:srgbClr val="333333">
                <a:alpha val="0"/>
              </a:srgbClr>
            </a:solidFill>
            <a:prstDash val="solid"/>
          </a:ln>
        </p:spPr>
        <p:txBody>
          <a:bodyPr/>
          <a:lstStyle/>
          <a:p>
            <a:endParaRPr lang="ja-JP" altLang="en-US"/>
          </a:p>
        </p:txBody>
      </p:sp>
      <p:sp>
        <p:nvSpPr>
          <p:cNvPr id="13" name="Text 11"/>
          <p:cNvSpPr/>
          <p:nvPr/>
        </p:nvSpPr>
        <p:spPr>
          <a:xfrm>
            <a:off x="8275320" y="1828800"/>
            <a:ext cx="1188720" cy="320040"/>
          </a:xfrm>
          <a:prstGeom prst="rect">
            <a:avLst/>
          </a:prstGeom>
          <a:noFill/>
          <a:ln/>
        </p:spPr>
        <p:txBody>
          <a:bodyPr wrap="square" rtlCol="0" anchor="ctr"/>
          <a:lstStyle/>
          <a:p>
            <a:pPr marL="0" indent="0">
              <a:buNone/>
            </a:pPr>
            <a:r>
              <a:rPr lang="en-US" sz="2300" b="1" dirty="0">
                <a:solidFill>
                  <a:srgbClr val="1455D9"/>
                </a:solidFill>
              </a:rPr>
              <a:t>61–90</a:t>
            </a:r>
            <a:endParaRPr lang="en-US" sz="2300" dirty="0"/>
          </a:p>
        </p:txBody>
      </p:sp>
      <p:sp>
        <p:nvSpPr>
          <p:cNvPr id="14" name="Text 12"/>
          <p:cNvSpPr/>
          <p:nvPr/>
        </p:nvSpPr>
        <p:spPr>
          <a:xfrm>
            <a:off x="8275320" y="2395728"/>
            <a:ext cx="2011680" cy="274320"/>
          </a:xfrm>
          <a:prstGeom prst="rect">
            <a:avLst/>
          </a:prstGeom>
          <a:noFill/>
          <a:ln/>
        </p:spPr>
        <p:txBody>
          <a:bodyPr wrap="square" rtlCol="0" anchor="ctr"/>
          <a:lstStyle/>
          <a:p>
            <a:pPr marL="0" indent="0">
              <a:buNone/>
            </a:pPr>
            <a:r>
              <a:rPr lang="en-US" sz="1300" b="1" kern="0" spc="120" dirty="0">
                <a:solidFill>
                  <a:srgbClr val="151515"/>
                </a:solidFill>
              </a:rPr>
              <a:t>DECIDE</a:t>
            </a:r>
            <a:endParaRPr lang="en-US" sz="1300" dirty="0"/>
          </a:p>
        </p:txBody>
      </p:sp>
      <p:sp>
        <p:nvSpPr>
          <p:cNvPr id="15" name="Text 13"/>
          <p:cNvSpPr/>
          <p:nvPr/>
        </p:nvSpPr>
        <p:spPr>
          <a:xfrm>
            <a:off x="8275320" y="2944368"/>
            <a:ext cx="2560320" cy="731520"/>
          </a:xfrm>
          <a:prstGeom prst="rect">
            <a:avLst/>
          </a:prstGeom>
          <a:noFill/>
          <a:ln/>
        </p:spPr>
        <p:txBody>
          <a:bodyPr wrap="square" lIns="0" tIns="0" rIns="0" bIns="0" rtlCol="0" anchor="ctr"/>
          <a:lstStyle/>
          <a:p>
            <a:pPr marL="0" indent="0">
              <a:buNone/>
            </a:pPr>
            <a:r>
              <a:rPr lang="en-US" sz="1700" dirty="0">
                <a:solidFill>
                  <a:srgbClr val="151515"/>
                </a:solidFill>
              </a:rPr>
              <a:t>継続投資</a:t>
            </a:r>
            <a:endParaRPr lang="en-US" sz="1700" dirty="0"/>
          </a:p>
          <a:p>
            <a:pPr marL="0" indent="0">
              <a:buNone/>
            </a:pPr>
            <a:r>
              <a:rPr lang="en-US" sz="1700" dirty="0">
                <a:solidFill>
                  <a:srgbClr val="151515"/>
                </a:solidFill>
              </a:rPr>
              <a:t>出店ゲート</a:t>
            </a:r>
            <a:endParaRPr lang="en-US" sz="1700" dirty="0"/>
          </a:p>
        </p:txBody>
      </p:sp>
      <p:sp>
        <p:nvSpPr>
          <p:cNvPr id="16" name="Shape 14"/>
          <p:cNvSpPr/>
          <p:nvPr/>
        </p:nvSpPr>
        <p:spPr>
          <a:xfrm>
            <a:off x="685800" y="4251960"/>
            <a:ext cx="10698480" cy="960120"/>
          </a:xfrm>
          <a:prstGeom prst="rect">
            <a:avLst/>
          </a:prstGeom>
          <a:solidFill>
            <a:srgbClr val="151515"/>
          </a:solidFill>
          <a:ln w="12700">
            <a:solidFill>
              <a:srgbClr val="151515"/>
            </a:solidFill>
            <a:prstDash val="solid"/>
          </a:ln>
        </p:spPr>
        <p:txBody>
          <a:bodyPr/>
          <a:lstStyle/>
          <a:p>
            <a:endParaRPr lang="ja-JP" altLang="en-US"/>
          </a:p>
        </p:txBody>
      </p:sp>
      <p:sp>
        <p:nvSpPr>
          <p:cNvPr id="17" name="Text 15"/>
          <p:cNvSpPr/>
          <p:nvPr/>
        </p:nvSpPr>
        <p:spPr>
          <a:xfrm>
            <a:off x="960120" y="4535424"/>
            <a:ext cx="1371600" cy="228600"/>
          </a:xfrm>
          <a:prstGeom prst="rect">
            <a:avLst/>
          </a:prstGeom>
          <a:noFill/>
          <a:ln/>
        </p:spPr>
        <p:txBody>
          <a:bodyPr wrap="square" rtlCol="0" anchor="ctr"/>
          <a:lstStyle/>
          <a:p>
            <a:pPr marL="0" indent="0">
              <a:buNone/>
            </a:pPr>
            <a:r>
              <a:rPr lang="en-US" sz="1000" b="1" dirty="0">
                <a:solidFill>
                  <a:srgbClr val="76A2FF"/>
                </a:solidFill>
              </a:rPr>
              <a:t>BOARD GATE</a:t>
            </a:r>
            <a:endParaRPr lang="en-US" sz="1000" dirty="0"/>
          </a:p>
        </p:txBody>
      </p:sp>
      <p:sp>
        <p:nvSpPr>
          <p:cNvPr id="18" name="Text 16"/>
          <p:cNvSpPr/>
          <p:nvPr/>
        </p:nvSpPr>
        <p:spPr>
          <a:xfrm>
            <a:off x="2514600" y="4462272"/>
            <a:ext cx="7772400" cy="365760"/>
          </a:xfrm>
          <a:prstGeom prst="rect">
            <a:avLst/>
          </a:prstGeom>
          <a:noFill/>
          <a:ln/>
        </p:spPr>
        <p:txBody>
          <a:bodyPr wrap="square" rtlCol="0" anchor="ctr"/>
          <a:lstStyle/>
          <a:p>
            <a:pPr marL="0" indent="0">
              <a:buNone/>
            </a:pPr>
            <a:r>
              <a:rPr lang="en-US" sz="1900" b="1" dirty="0">
                <a:solidFill>
                  <a:srgbClr val="FFFFFF"/>
                </a:solidFill>
              </a:rPr>
              <a:t>収益改善の再現性と候補地の投資採算を確認</a:t>
            </a:r>
            <a:endParaRPr lang="en-US" sz="19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515"/>
        </a:solidFill>
        <a:effectLst/>
      </p:bgPr>
    </p:bg>
    <p:spTree>
      <p:nvGrpSpPr>
        <p:cNvPr id="1" name=""/>
        <p:cNvGrpSpPr/>
        <p:nvPr/>
      </p:nvGrpSpPr>
      <p:grpSpPr>
        <a:xfrm>
          <a:off x="0" y="0"/>
          <a:ext cx="1" cy="1"/>
          <a:chOff x="0" y="0"/>
          <a:chExt cx="1" cy="1"/>
        </a:xfrm>
      </p:grpSpPr>
      <p:pic>
        <p:nvPicPr>
          <p:cNvPr id="2" name="Image 0" descr="/mnt/data/7c0f8c08e9.png"/>
          <p:cNvPicPr>
            <a:picLocks noChangeAspect="1"/>
          </p:cNvPicPr>
          <p:nvPr/>
        </p:nvPicPr>
        <p:blipFill>
          <a:blip r:embed="rId3"/>
          <a:srcRect l="17409" r="17409"/>
          <a:stretch/>
        </p:blipFill>
        <p:spPr>
          <a:xfrm>
            <a:off x="5486400" y="0"/>
            <a:ext cx="6705295" cy="6858000"/>
          </a:xfrm>
          <a:prstGeom prst="rect">
            <a:avLst/>
          </a:prstGeom>
        </p:spPr>
      </p:pic>
      <p:sp>
        <p:nvSpPr>
          <p:cNvPr id="3" name="Shape 0"/>
          <p:cNvSpPr/>
          <p:nvPr/>
        </p:nvSpPr>
        <p:spPr>
          <a:xfrm>
            <a:off x="5486400" y="0"/>
            <a:ext cx="914400" cy="6858000"/>
          </a:xfrm>
          <a:prstGeom prst="rect">
            <a:avLst/>
          </a:prstGeom>
          <a:solidFill>
            <a:srgbClr val="151515">
              <a:alpha val="75000"/>
            </a:srgbClr>
          </a:solidFill>
          <a:ln w="12700">
            <a:solidFill>
              <a:srgbClr val="333333">
                <a:alpha val="0"/>
              </a:srgbClr>
            </a:solidFill>
            <a:prstDash val="solid"/>
          </a:ln>
        </p:spPr>
        <p:txBody>
          <a:bodyPr/>
          <a:lstStyle/>
          <a:p>
            <a:endParaRPr lang="ja-JP" altLang="en-US"/>
          </a:p>
        </p:txBody>
      </p:sp>
      <p:sp>
        <p:nvSpPr>
          <p:cNvPr id="4" name="Text 1"/>
          <p:cNvSpPr/>
          <p:nvPr/>
        </p:nvSpPr>
        <p:spPr>
          <a:xfrm>
            <a:off x="594360" y="777240"/>
            <a:ext cx="2926080" cy="228600"/>
          </a:xfrm>
          <a:prstGeom prst="rect">
            <a:avLst/>
          </a:prstGeom>
          <a:noFill/>
          <a:ln/>
        </p:spPr>
        <p:txBody>
          <a:bodyPr wrap="square" rtlCol="0" anchor="ctr"/>
          <a:lstStyle/>
          <a:p>
            <a:pPr marL="0" indent="0">
              <a:buNone/>
            </a:pPr>
            <a:r>
              <a:rPr lang="en-US" sz="1000" b="1" kern="0" spc="170" dirty="0">
                <a:solidFill>
                  <a:srgbClr val="76A2FF"/>
                </a:solidFill>
              </a:rPr>
              <a:t>DECISION REQUEST</a:t>
            </a:r>
            <a:endParaRPr lang="en-US" sz="1000" dirty="0"/>
          </a:p>
        </p:txBody>
      </p:sp>
      <p:sp>
        <p:nvSpPr>
          <p:cNvPr id="5" name="Text 2"/>
          <p:cNvSpPr/>
          <p:nvPr/>
        </p:nvSpPr>
        <p:spPr>
          <a:xfrm>
            <a:off x="594360" y="1417320"/>
            <a:ext cx="4297680" cy="2057400"/>
          </a:xfrm>
          <a:prstGeom prst="rect">
            <a:avLst/>
          </a:prstGeom>
          <a:noFill/>
          <a:ln/>
        </p:spPr>
        <p:txBody>
          <a:bodyPr wrap="square" lIns="0" tIns="0" rIns="0" bIns="0" rtlCol="0" anchor="ctr"/>
          <a:lstStyle/>
          <a:p>
            <a:pPr marL="0" indent="0">
              <a:buNone/>
            </a:pPr>
            <a:r>
              <a:rPr lang="en-US" sz="3900" b="1" dirty="0">
                <a:solidFill>
                  <a:srgbClr val="FFFFFF"/>
                </a:solidFill>
              </a:rPr>
              <a:t>選ぶ。</a:t>
            </a:r>
            <a:endParaRPr lang="en-US" sz="3900" dirty="0"/>
          </a:p>
          <a:p>
            <a:pPr marL="0" indent="0">
              <a:buNone/>
            </a:pPr>
            <a:r>
              <a:rPr lang="en-US" sz="3900" b="1" dirty="0">
                <a:solidFill>
                  <a:srgbClr val="FFFFFF"/>
                </a:solidFill>
              </a:rPr>
              <a:t>試す。</a:t>
            </a:r>
            <a:endParaRPr lang="en-US" sz="3900" dirty="0"/>
          </a:p>
          <a:p>
            <a:pPr marL="0" indent="0">
              <a:buNone/>
            </a:pPr>
            <a:r>
              <a:rPr lang="en-US" sz="3900" b="1" dirty="0">
                <a:solidFill>
                  <a:srgbClr val="FFFFFF"/>
                </a:solidFill>
              </a:rPr>
              <a:t>決める。</a:t>
            </a:r>
            <a:endParaRPr lang="en-US" sz="3900" dirty="0"/>
          </a:p>
        </p:txBody>
      </p:sp>
      <p:sp>
        <p:nvSpPr>
          <p:cNvPr id="6" name="Text 3"/>
          <p:cNvSpPr/>
          <p:nvPr/>
        </p:nvSpPr>
        <p:spPr>
          <a:xfrm>
            <a:off x="594360" y="4096512"/>
            <a:ext cx="4343400" cy="548640"/>
          </a:xfrm>
          <a:prstGeom prst="rect">
            <a:avLst/>
          </a:prstGeom>
          <a:noFill/>
          <a:ln/>
        </p:spPr>
        <p:txBody>
          <a:bodyPr wrap="square" rtlCol="0" anchor="ctr"/>
          <a:lstStyle/>
          <a:p>
            <a:pPr marL="0" indent="0">
              <a:buNone/>
            </a:pPr>
            <a:r>
              <a:rPr lang="en-US" sz="1900" dirty="0">
                <a:solidFill>
                  <a:srgbClr val="D9D9D9"/>
                </a:solidFill>
              </a:rPr>
              <a:t>次年度の成長投資を、規律ある判断へ。</a:t>
            </a:r>
            <a:endParaRPr lang="en-US" sz="1900" dirty="0"/>
          </a:p>
        </p:txBody>
      </p:sp>
      <p:sp>
        <p:nvSpPr>
          <p:cNvPr id="7" name="Text 4"/>
          <p:cNvSpPr/>
          <p:nvPr/>
        </p:nvSpPr>
        <p:spPr>
          <a:xfrm>
            <a:off x="594360" y="5989320"/>
            <a:ext cx="2743200" cy="274320"/>
          </a:xfrm>
          <a:prstGeom prst="rect">
            <a:avLst/>
          </a:prstGeom>
          <a:noFill/>
          <a:ln/>
        </p:spPr>
        <p:txBody>
          <a:bodyPr wrap="square" rtlCol="0" anchor="ctr"/>
          <a:lstStyle/>
          <a:p>
            <a:pPr marL="0" indent="0">
              <a:buNone/>
            </a:pPr>
            <a:r>
              <a:rPr lang="en-US" sz="1100" dirty="0">
                <a:solidFill>
                  <a:srgbClr val="AFAFAF"/>
                </a:solidFill>
              </a:rPr>
              <a:t>TrendStyle Japan</a:t>
            </a:r>
            <a:endParaRPr lang="en-US" sz="1100" dirty="0"/>
          </a:p>
        </p:txBody>
      </p:sp>
      <p:sp>
        <p:nvSpPr>
          <p:cNvPr id="25" name="Slide Number Placeholder 0"/>
          <p:cNvSpPr>
            <a:spLocks noGrp="1"/>
          </p:cNvSpPr>
          <p:nvPr>
            <p:ph type="sldNum" sz="quarter" idx="4294967295"/>
          </p:nvPr>
        </p:nvSpPr>
        <p:spPr>
          <a:xfrm>
            <a:off x="11750040" y="6473952"/>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636363"/>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471</Words>
  <Application>Microsoft Office PowerPoint</Application>
  <PresentationFormat>ワイド画面</PresentationFormat>
  <Paragraphs>146</Paragraphs>
  <Slides>8</Slides>
  <Notes>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Aptos</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TrendStyle Japan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TrendStyle Japan 2025年度 成長戦略 役員会資料</dc:title>
  <dc:subject>TrendStyle Japan 前年度役員会資料テンプレート</dc:subject>
  <dc:creator>Takuji Soga</dc:creator>
  <cp:lastModifiedBy>Takuji Soga</cp:lastModifiedBy>
  <cp:revision>2</cp:revision>
  <dcterms:created xsi:type="dcterms:W3CDTF">2026-09-12T04:05:09Z</dcterms:created>
  <dcterms:modified xsi:type="dcterms:W3CDTF">2026-09-13T16:31:35Z</dcterms:modified>
</cp:coreProperties>
</file>